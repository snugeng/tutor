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7"/>
  </p:notesMasterIdLst>
  <p:sldIdLst>
    <p:sldId id="304" r:id="rId2"/>
    <p:sldId id="258" r:id="rId3"/>
    <p:sldId id="295" r:id="rId4"/>
    <p:sldId id="306" r:id="rId5"/>
    <p:sldId id="308" r:id="rId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1436">
          <p15:clr>
            <a:srgbClr val="A4A3A4"/>
          </p15:clr>
        </p15:guide>
        <p15:guide id="2" orient="horz" pos="3144" userDrawn="1">
          <p15:clr>
            <a:srgbClr val="A4A3A4"/>
          </p15:clr>
        </p15:guide>
        <p15:guide id="3" pos="270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ena Juszko" initials="AJ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7FF"/>
    <a:srgbClr val="D4DADE"/>
    <a:srgbClr val="DCE4EA"/>
    <a:srgbClr val="009FE4"/>
    <a:srgbClr val="E3ECF0"/>
    <a:srgbClr val="3BB4EA"/>
    <a:srgbClr val="5FC2EE"/>
    <a:srgbClr val="FAF8F0"/>
    <a:srgbClr val="009EE3"/>
    <a:srgbClr val="F3E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A2CA1F-3267-4498-8071-7EE1E42671EB}">
  <a:tblStyle styleId="{C3A2CA1F-3267-4498-8071-7EE1E42671EB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7E8E7"/>
          </a:solidFill>
        </a:fill>
      </a:tcStyle>
    </a:wholeTbl>
    <a:band1H>
      <a:tcStyle>
        <a:tcBdr/>
        <a:fill>
          <a:solidFill>
            <a:srgbClr val="EFCECA"/>
          </a:solidFill>
        </a:fill>
      </a:tcStyle>
    </a:band1H>
    <a:band1V>
      <a:tcStyle>
        <a:tcBdr/>
        <a:fill>
          <a:solidFill>
            <a:srgbClr val="EFCECA"/>
          </a:solidFill>
        </a:fill>
      </a:tcStyle>
    </a:band1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78" autoAdjust="0"/>
    <p:restoredTop sz="93924" autoAdjust="0"/>
  </p:normalViewPr>
  <p:slideViewPr>
    <p:cSldViewPr snapToGrid="0" showGuides="1">
      <p:cViewPr varScale="1">
        <p:scale>
          <a:sx n="126" d="100"/>
          <a:sy n="126" d="100"/>
        </p:scale>
        <p:origin x="264" y="90"/>
      </p:cViewPr>
      <p:guideLst>
        <p:guide pos="1436"/>
        <p:guide orient="horz" pos="3144"/>
        <p:guide pos="27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hape 3">
            <a:extLst>
              <a:ext uri="{FF2B5EF4-FFF2-40B4-BE49-F238E27FC236}">
                <a16:creationId xmlns:a16="http://schemas.microsoft.com/office/drawing/2014/main" id="{69225919-928C-412A-9C2C-0308EEEF27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  <a:gd name="T10" fmla="*/ 0 w 120000"/>
              <a:gd name="T11" fmla="*/ 0 h 120000"/>
              <a:gd name="T12" fmla="*/ 120000 w 120000"/>
              <a:gd name="T13" fmla="*/ 12000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9BD1AF2-0741-4047-BEA0-CDB016C85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>
            <a:pPr lvl="0"/>
            <a:endParaRPr noProof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ymbol zastępczy obrazu slajdu 1">
            <a:extLst>
              <a:ext uri="{FF2B5EF4-FFF2-40B4-BE49-F238E27FC236}">
                <a16:creationId xmlns:a16="http://schemas.microsoft.com/office/drawing/2014/main" id="{B757DB93-D8EE-4CB1-A10E-57A9D8B590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headEnd/>
            <a:tailEnd/>
          </a:ln>
        </p:spPr>
      </p:sp>
      <p:sp>
        <p:nvSpPr>
          <p:cNvPr id="12291" name="Symbol zastępczy notatek 2">
            <a:extLst>
              <a:ext uri="{FF2B5EF4-FFF2-40B4-BE49-F238E27FC236}">
                <a16:creationId xmlns:a16="http://schemas.microsoft.com/office/drawing/2014/main" id="{D735DFF9-D250-4D20-AEBE-5D62C20ABF6F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SzTx/>
            </a:pPr>
            <a:endParaRPr lang="pl-PL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hape 78">
            <a:extLst>
              <a:ext uri="{FF2B5EF4-FFF2-40B4-BE49-F238E27FC236}">
                <a16:creationId xmlns:a16="http://schemas.microsoft.com/office/drawing/2014/main" id="{5EE7225F-D5CB-426D-BFBE-B9C37FDBB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4339" name="Shape 79">
            <a:extLst>
              <a:ext uri="{FF2B5EF4-FFF2-40B4-BE49-F238E27FC236}">
                <a16:creationId xmlns:a16="http://schemas.microsoft.com/office/drawing/2014/main" id="{BA76C67B-B7C1-4C3B-B78F-167D683BD64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hape 78">
            <a:extLst>
              <a:ext uri="{FF2B5EF4-FFF2-40B4-BE49-F238E27FC236}">
                <a16:creationId xmlns:a16="http://schemas.microsoft.com/office/drawing/2014/main" id="{86003350-5615-42CA-9F45-A0CCA4492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6387" name="Shape 79">
            <a:extLst>
              <a:ext uri="{FF2B5EF4-FFF2-40B4-BE49-F238E27FC236}">
                <a16:creationId xmlns:a16="http://schemas.microsoft.com/office/drawing/2014/main" id="{245A2BF6-B182-4238-BC97-607933CE80E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hape 78">
            <a:extLst>
              <a:ext uri="{FF2B5EF4-FFF2-40B4-BE49-F238E27FC236}">
                <a16:creationId xmlns:a16="http://schemas.microsoft.com/office/drawing/2014/main" id="{2CF605A5-6411-43D0-BC24-FE30F6105EA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8435" name="Shape 79">
            <a:extLst>
              <a:ext uri="{FF2B5EF4-FFF2-40B4-BE49-F238E27FC236}">
                <a16:creationId xmlns:a16="http://schemas.microsoft.com/office/drawing/2014/main" id="{59BEEE8D-41A2-4901-ABA3-7CB54242029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ln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hape 284">
            <a:extLst>
              <a:ext uri="{FF2B5EF4-FFF2-40B4-BE49-F238E27FC236}">
                <a16:creationId xmlns:a16="http://schemas.microsoft.com/office/drawing/2014/main" id="{664F7AF9-8C16-408D-86C6-2D19C51154E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20483" name="Shape 285">
            <a:extLst>
              <a:ext uri="{FF2B5EF4-FFF2-40B4-BE49-F238E27FC236}">
                <a16:creationId xmlns:a16="http://schemas.microsoft.com/office/drawing/2014/main" id="{39214792-6735-41FB-A27C-7398F9F13B0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ln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9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9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F702231B-4CED-4FB0-A085-8AB86D61D1EF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C2199338-714D-4A0D-927B-043DD17415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7434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="b"/>
          <a:lstStyle>
            <a:lvl1pPr lvl="0">
              <a:spcBef>
                <a:spcPts val="0"/>
              </a:spcBef>
              <a:buSzPct val="100000"/>
              <a:defRPr sz="3200"/>
            </a:lvl1pPr>
            <a:lvl2pPr lvl="1">
              <a:spcBef>
                <a:spcPts val="0"/>
              </a:spcBef>
              <a:buSzPct val="100000"/>
              <a:defRPr sz="3200"/>
            </a:lvl2pPr>
            <a:lvl3pPr lvl="2">
              <a:spcBef>
                <a:spcPts val="0"/>
              </a:spcBef>
              <a:buSzPct val="100000"/>
              <a:defRPr sz="3200"/>
            </a:lvl3pPr>
            <a:lvl4pPr lvl="3">
              <a:spcBef>
                <a:spcPts val="0"/>
              </a:spcBef>
              <a:buSzPct val="100000"/>
              <a:defRPr sz="3200"/>
            </a:lvl4pPr>
            <a:lvl5pPr lvl="4">
              <a:spcBef>
                <a:spcPts val="0"/>
              </a:spcBef>
              <a:buSzPct val="100000"/>
              <a:defRPr sz="3200"/>
            </a:lvl5pPr>
            <a:lvl6pPr lvl="5">
              <a:spcBef>
                <a:spcPts val="0"/>
              </a:spcBef>
              <a:buSzPct val="100000"/>
              <a:defRPr sz="3200"/>
            </a:lvl6pPr>
            <a:lvl7pPr lvl="6">
              <a:spcBef>
                <a:spcPts val="0"/>
              </a:spcBef>
              <a:buSzPct val="100000"/>
              <a:defRPr sz="3200"/>
            </a:lvl7pPr>
            <a:lvl8pPr lvl="7">
              <a:spcBef>
                <a:spcPts val="0"/>
              </a:spcBef>
              <a:buSzPct val="100000"/>
              <a:defRPr sz="3200"/>
            </a:lvl8pPr>
            <a:lvl9pPr lvl="8">
              <a:spcBef>
                <a:spcPts val="0"/>
              </a:spcBef>
              <a:buSzPct val="100000"/>
              <a:defRPr sz="32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6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4" name="Shape 31">
            <a:extLst>
              <a:ext uri="{FF2B5EF4-FFF2-40B4-BE49-F238E27FC236}">
                <a16:creationId xmlns:a16="http://schemas.microsoft.com/office/drawing/2014/main" id="{BFEC4B5B-5AF8-46AB-92EB-42E6D222AF5D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ED9B448F-085A-4AEC-A036-CD18B9C998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811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53666" y="600200"/>
            <a:ext cx="8490300" cy="5454300"/>
          </a:xfrm>
          <a:prstGeom prst="rect">
            <a:avLst/>
          </a:prstGeom>
        </p:spPr>
        <p:txBody>
          <a:bodyPr anchor="ctr"/>
          <a:lstStyle>
            <a:lvl1pPr lvl="0">
              <a:spcBef>
                <a:spcPts val="0"/>
              </a:spcBef>
              <a:buSzPct val="100000"/>
              <a:defRPr sz="6400"/>
            </a:lvl1pPr>
            <a:lvl2pPr lvl="1">
              <a:spcBef>
                <a:spcPts val="0"/>
              </a:spcBef>
              <a:buSzPct val="100000"/>
              <a:defRPr sz="6400"/>
            </a:lvl2pPr>
            <a:lvl3pPr lvl="2">
              <a:spcBef>
                <a:spcPts val="0"/>
              </a:spcBef>
              <a:buSzPct val="100000"/>
              <a:defRPr sz="6400"/>
            </a:lvl3pPr>
            <a:lvl4pPr lvl="3">
              <a:spcBef>
                <a:spcPts val="0"/>
              </a:spcBef>
              <a:buSzPct val="100000"/>
              <a:defRPr sz="6400"/>
            </a:lvl4pPr>
            <a:lvl5pPr lvl="4">
              <a:spcBef>
                <a:spcPts val="0"/>
              </a:spcBef>
              <a:buSzPct val="100000"/>
              <a:defRPr sz="6400"/>
            </a:lvl5pPr>
            <a:lvl6pPr lvl="5">
              <a:spcBef>
                <a:spcPts val="0"/>
              </a:spcBef>
              <a:buSzPct val="100000"/>
              <a:defRPr sz="6400"/>
            </a:lvl6pPr>
            <a:lvl7pPr lvl="6">
              <a:spcBef>
                <a:spcPts val="0"/>
              </a:spcBef>
              <a:buSzPct val="100000"/>
              <a:defRPr sz="6400"/>
            </a:lvl7pPr>
            <a:lvl8pPr lvl="7">
              <a:spcBef>
                <a:spcPts val="0"/>
              </a:spcBef>
              <a:buSzPct val="100000"/>
              <a:defRPr sz="6400"/>
            </a:lvl8pPr>
            <a:lvl9pPr lvl="8">
              <a:spcBef>
                <a:spcPts val="0"/>
              </a:spcBef>
              <a:buSzPct val="100000"/>
              <a:defRPr sz="6400"/>
            </a:lvl9pPr>
          </a:lstStyle>
          <a:p>
            <a:endParaRPr/>
          </a:p>
        </p:txBody>
      </p:sp>
      <p:sp>
        <p:nvSpPr>
          <p:cNvPr id="3" name="Shape 34">
            <a:extLst>
              <a:ext uri="{FF2B5EF4-FFF2-40B4-BE49-F238E27FC236}">
                <a16:creationId xmlns:a16="http://schemas.microsoft.com/office/drawing/2014/main" id="{BB20398D-3516-4EDE-B528-9E69006E840D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362F95F9-8E2B-47E2-8E7C-DD2E9A69F5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3982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6">
            <a:extLst>
              <a:ext uri="{FF2B5EF4-FFF2-40B4-BE49-F238E27FC236}">
                <a16:creationId xmlns:a16="http://schemas.microsoft.com/office/drawing/2014/main" id="{1194512B-EE27-4EEA-A6CB-9EB4487FA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="b"/>
          <a:lstStyle>
            <a:lvl1pPr lvl="0" algn="ctr">
              <a:spcBef>
                <a:spcPts val="0"/>
              </a:spcBef>
              <a:buSzPct val="100000"/>
              <a:defRPr sz="5600"/>
            </a:lvl1pPr>
            <a:lvl2pPr lvl="1" algn="ctr">
              <a:spcBef>
                <a:spcPts val="0"/>
              </a:spcBef>
              <a:buSzPct val="100000"/>
              <a:defRPr sz="5600"/>
            </a:lvl2pPr>
            <a:lvl3pPr lvl="2" algn="ctr">
              <a:spcBef>
                <a:spcPts val="0"/>
              </a:spcBef>
              <a:buSzPct val="100000"/>
              <a:defRPr sz="5600"/>
            </a:lvl3pPr>
            <a:lvl4pPr lvl="3" algn="ctr">
              <a:spcBef>
                <a:spcPts val="0"/>
              </a:spcBef>
              <a:buSzPct val="100000"/>
              <a:defRPr sz="5600"/>
            </a:lvl4pPr>
            <a:lvl5pPr lvl="4" algn="ctr">
              <a:spcBef>
                <a:spcPts val="0"/>
              </a:spcBef>
              <a:buSzPct val="100000"/>
              <a:defRPr sz="5600"/>
            </a:lvl5pPr>
            <a:lvl6pPr lvl="5" algn="ctr">
              <a:spcBef>
                <a:spcPts val="0"/>
              </a:spcBef>
              <a:buSzPct val="100000"/>
              <a:defRPr sz="5600"/>
            </a:lvl6pPr>
            <a:lvl7pPr lvl="6" algn="ctr">
              <a:spcBef>
                <a:spcPts val="0"/>
              </a:spcBef>
              <a:buSzPct val="100000"/>
              <a:defRPr sz="5600"/>
            </a:lvl7pPr>
            <a:lvl8pPr lvl="7" algn="ctr">
              <a:spcBef>
                <a:spcPts val="0"/>
              </a:spcBef>
              <a:buSzPct val="100000"/>
              <a:defRPr sz="5600"/>
            </a:lvl8pPr>
            <a:lvl9pPr lvl="8" algn="ctr">
              <a:spcBef>
                <a:spcPts val="0"/>
              </a:spcBef>
              <a:buSzPct val="100000"/>
              <a:defRPr sz="56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="ctr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" name="Shape 40">
            <a:extLst>
              <a:ext uri="{FF2B5EF4-FFF2-40B4-BE49-F238E27FC236}">
                <a16:creationId xmlns:a16="http://schemas.microsoft.com/office/drawing/2014/main" id="{688B28F7-5B20-4BEA-B1F0-89F163F465A0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82FF5437-C010-40F5-8803-4BB70DB3ED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4907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15600" y="5640766"/>
            <a:ext cx="7998300" cy="806700"/>
          </a:xfrm>
          <a:prstGeom prst="rect">
            <a:avLst/>
          </a:prstGeom>
        </p:spPr>
        <p:txBody>
          <a:bodyPr anchor="ctr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3" name="Shape 43">
            <a:extLst>
              <a:ext uri="{FF2B5EF4-FFF2-40B4-BE49-F238E27FC236}">
                <a16:creationId xmlns:a16="http://schemas.microsoft.com/office/drawing/2014/main" id="{FC91B587-B2A7-47B6-84AD-78AEE045DDC8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8226972E-7E79-415F-BE17-341642453C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9533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="b"/>
          <a:lstStyle>
            <a:lvl1pPr lvl="0" algn="ctr">
              <a:spcBef>
                <a:spcPts val="0"/>
              </a:spcBef>
              <a:buSzPct val="100000"/>
              <a:defRPr sz="16000"/>
            </a:lvl1pPr>
            <a:lvl2pPr lvl="1" algn="ctr">
              <a:spcBef>
                <a:spcPts val="0"/>
              </a:spcBef>
              <a:buSzPct val="100000"/>
              <a:defRPr sz="16000"/>
            </a:lvl2pPr>
            <a:lvl3pPr lvl="2" algn="ctr">
              <a:spcBef>
                <a:spcPts val="0"/>
              </a:spcBef>
              <a:buSzPct val="100000"/>
              <a:defRPr sz="16000"/>
            </a:lvl3pPr>
            <a:lvl4pPr lvl="3" algn="ctr">
              <a:spcBef>
                <a:spcPts val="0"/>
              </a:spcBef>
              <a:buSzPct val="100000"/>
              <a:defRPr sz="16000"/>
            </a:lvl4pPr>
            <a:lvl5pPr lvl="4" algn="ctr">
              <a:spcBef>
                <a:spcPts val="0"/>
              </a:spcBef>
              <a:buSzPct val="100000"/>
              <a:defRPr sz="16000"/>
            </a:lvl5pPr>
            <a:lvl6pPr lvl="5" algn="ctr">
              <a:spcBef>
                <a:spcPts val="0"/>
              </a:spcBef>
              <a:buSzPct val="100000"/>
              <a:defRPr sz="16000"/>
            </a:lvl6pPr>
            <a:lvl7pPr lvl="6" algn="ctr">
              <a:spcBef>
                <a:spcPts val="0"/>
              </a:spcBef>
              <a:buSzPct val="100000"/>
              <a:defRPr sz="16000"/>
            </a:lvl7pPr>
            <a:lvl8pPr lvl="7" algn="ctr">
              <a:spcBef>
                <a:spcPts val="0"/>
              </a:spcBef>
              <a:buSzPct val="100000"/>
              <a:defRPr sz="16000"/>
            </a:lvl8pPr>
            <a:lvl9pPr lvl="8" algn="ctr">
              <a:spcBef>
                <a:spcPts val="0"/>
              </a:spcBef>
              <a:buSzPct val="100000"/>
              <a:defRPr sz="16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415600" y="4202966"/>
            <a:ext cx="11360700" cy="1734300"/>
          </a:xfrm>
          <a:prstGeom prst="rect">
            <a:avLst/>
          </a:prstGeom>
        </p:spPr>
        <p:txBody>
          <a:bodyPr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7">
            <a:extLst>
              <a:ext uri="{FF2B5EF4-FFF2-40B4-BE49-F238E27FC236}">
                <a16:creationId xmlns:a16="http://schemas.microsoft.com/office/drawing/2014/main" id="{2538E250-1372-45C0-AB1D-C9FD673FAE55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982780E1-DD16-45E8-908C-59A7D3B6C1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336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4">
            <a:extLst>
              <a:ext uri="{FF2B5EF4-FFF2-40B4-BE49-F238E27FC236}">
                <a16:creationId xmlns:a16="http://schemas.microsoft.com/office/drawing/2014/main" id="{8D345CC6-D895-40DE-8D26-94C5E62678DA}"/>
              </a:ext>
            </a:extLst>
          </p:cNvPr>
          <p:cNvSpPr txBox="1">
            <a:spLocks noGrp="1"/>
          </p:cNvSpPr>
          <p:nvPr>
            <p:ph type="ftr" idx="10"/>
          </p:nvPr>
        </p:nvSpPr>
        <p:spPr bwMode="auto">
          <a:xfrm>
            <a:off x="274638" y="6343650"/>
            <a:ext cx="632777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Rockwell" panose="02060603020205020403" pitchFamily="18" charset="0"/>
              </a:defRPr>
            </a:lvl1pPr>
          </a:lstStyle>
          <a:p>
            <a:r>
              <a:rPr lang="en-US" altLang="en-US"/>
              <a:t>Pearson  (c) 2018      Gold Experience 2nd Edition C1 / B2+ / B2</a:t>
            </a:r>
          </a:p>
        </p:txBody>
      </p:sp>
    </p:spTree>
    <p:extLst>
      <p:ext uri="{BB962C8B-B14F-4D97-AF65-F5344CB8AC3E}">
        <p14:creationId xmlns:p14="http://schemas.microsoft.com/office/powerpoint/2010/main" val="413461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="ctr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" name="Shape 15">
            <a:extLst>
              <a:ext uri="{FF2B5EF4-FFF2-40B4-BE49-F238E27FC236}">
                <a16:creationId xmlns:a16="http://schemas.microsoft.com/office/drawing/2014/main" id="{C339B13B-CFDB-4AF7-9817-22652E17756D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3F26AA48-DD65-489D-AB76-47CE7856C1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020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6">
            <a:extLst>
              <a:ext uri="{FF2B5EF4-FFF2-40B4-BE49-F238E27FC236}">
                <a16:creationId xmlns:a16="http://schemas.microsoft.com/office/drawing/2014/main" id="{FF5AA638-0FA8-4475-B3FE-3F18D95FCE3C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415925" y="593725"/>
            <a:ext cx="11360150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Shape 7">
            <a:extLst>
              <a:ext uri="{FF2B5EF4-FFF2-40B4-BE49-F238E27FC236}">
                <a16:creationId xmlns:a16="http://schemas.microsoft.com/office/drawing/2014/main" id="{30F83559-01DE-49BF-B761-9CFA0DCE5662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415925" y="1536700"/>
            <a:ext cx="11360150" cy="455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Shape 8">
            <a:extLst>
              <a:ext uri="{FF2B5EF4-FFF2-40B4-BE49-F238E27FC236}">
                <a16:creationId xmlns:a16="http://schemas.microsoft.com/office/drawing/2014/main" id="{D8D8213B-9D50-45F1-8A83-40E6CBCC4E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296650" y="6218238"/>
            <a:ext cx="731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solidFill>
                  <a:srgbClr val="595959"/>
                </a:solidFill>
              </a:defRPr>
            </a:lvl1pPr>
          </a:lstStyle>
          <a:p>
            <a:fld id="{43524E83-BCC4-4692-936A-E0757327075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Obraz 8">
            <a:extLst>
              <a:ext uri="{FF2B5EF4-FFF2-40B4-BE49-F238E27FC236}">
                <a16:creationId xmlns:a16="http://schemas.microsoft.com/office/drawing/2014/main" id="{CEE68231-572D-4BD9-8349-509719F75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Shape 58">
            <a:extLst>
              <a:ext uri="{FF2B5EF4-FFF2-40B4-BE49-F238E27FC236}">
                <a16:creationId xmlns:a16="http://schemas.microsoft.com/office/drawing/2014/main" id="{61209752-36B8-403D-ACD2-0354422E7C3B}"/>
              </a:ext>
            </a:extLst>
          </p:cNvPr>
          <p:cNvSpPr txBox="1">
            <a:spLocks/>
          </p:cNvSpPr>
          <p:nvPr/>
        </p:nvSpPr>
        <p:spPr bwMode="auto">
          <a:xfrm>
            <a:off x="2450306" y="4757861"/>
            <a:ext cx="9846469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9E3611"/>
              </a:buClr>
              <a:buSzPts val="900"/>
            </a:pPr>
            <a:r>
              <a:rPr lang="pl-PL" altLang="en-US" sz="6600" b="1" dirty="0" err="1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Comparatives</a:t>
            </a:r>
            <a:r>
              <a:rPr lang="pl-PL" altLang="en-US" sz="6600" b="1" dirty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and </a:t>
            </a:r>
            <a:r>
              <a:rPr lang="pl-PL" altLang="en-US" sz="6600" b="1" dirty="0" err="1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superlatives</a:t>
            </a:r>
            <a:endParaRPr lang="pl-PL" altLang="en-US" sz="6600" b="1" dirty="0">
              <a:solidFill>
                <a:schemeClr val="bg1"/>
              </a:solidFill>
              <a:latin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11268" name="Shape 58">
            <a:extLst>
              <a:ext uri="{FF2B5EF4-FFF2-40B4-BE49-F238E27FC236}">
                <a16:creationId xmlns:a16="http://schemas.microsoft.com/office/drawing/2014/main" id="{846468ED-049C-48AF-9E03-84DBC9B15FD0}"/>
              </a:ext>
            </a:extLst>
          </p:cNvPr>
          <p:cNvSpPr txBox="1">
            <a:spLocks/>
          </p:cNvSpPr>
          <p:nvPr/>
        </p:nvSpPr>
        <p:spPr bwMode="auto">
          <a:xfrm>
            <a:off x="1127125" y="4601175"/>
            <a:ext cx="2203450" cy="124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9E3611"/>
              </a:buClr>
              <a:buSzPts val="900"/>
            </a:pPr>
            <a:r>
              <a:rPr lang="pl-PL" altLang="en-US" sz="6600" dirty="0">
                <a:solidFill>
                  <a:schemeClr val="bg1"/>
                </a:solidFill>
                <a:latin typeface="Open Sans Light" panose="020B0306030504020204" pitchFamily="34" charset="0"/>
                <a:cs typeface="Open Sans Light" panose="020B0306030504020204" pitchFamily="34" charset="0"/>
                <a:sym typeface="Open Sans" panose="020B0606030504020204" pitchFamily="34" charset="0"/>
              </a:rPr>
              <a:t>4.2</a:t>
            </a:r>
            <a:r>
              <a:rPr lang="pl-PL" altLang="en-US" sz="8000" dirty="0">
                <a:solidFill>
                  <a:schemeClr val="bg1"/>
                </a:solidFill>
                <a:latin typeface="Open Sans Light" panose="020B0306030504020204" pitchFamily="34" charset="0"/>
                <a:cs typeface="Open Sans Light" panose="020B0306030504020204" pitchFamily="34" charset="0"/>
                <a:sym typeface="Open Sans" panose="020B0606030504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BFCB">
            <a:alpha val="29411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81">
            <a:extLst>
              <a:ext uri="{FF2B5EF4-FFF2-40B4-BE49-F238E27FC236}">
                <a16:creationId xmlns:a16="http://schemas.microsoft.com/office/drawing/2014/main" id="{E0BBBAF4-DD8D-4DE5-B861-A892C0739A63}"/>
              </a:ext>
            </a:extLst>
          </p:cNvPr>
          <p:cNvSpPr txBox="1">
            <a:spLocks/>
          </p:cNvSpPr>
          <p:nvPr/>
        </p:nvSpPr>
        <p:spPr>
          <a:xfrm>
            <a:off x="211138" y="233363"/>
            <a:ext cx="11636375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ct val="25000"/>
              <a:buFont typeface="Rokkitt"/>
              <a:defRPr sz="4400" b="1">
                <a:solidFill>
                  <a:srgbClr val="1C4587"/>
                </a:solidFill>
                <a:latin typeface="Open Sans"/>
                <a:ea typeface="Open Sans"/>
                <a:cs typeface="Open Sans"/>
              </a:defRPr>
            </a:lvl1pPr>
            <a:lvl2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When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 do we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use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comparatives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 and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superlatives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?</a:t>
            </a:r>
          </a:p>
        </p:txBody>
      </p:sp>
      <p:sp>
        <p:nvSpPr>
          <p:cNvPr id="16" name="Rounded Rectangular Callout 41">
            <a:extLst>
              <a:ext uri="{FF2B5EF4-FFF2-40B4-BE49-F238E27FC236}">
                <a16:creationId xmlns:a16="http://schemas.microsoft.com/office/drawing/2014/main" id="{68059510-68B3-4ECB-80AF-4FE39FC00159}"/>
              </a:ext>
            </a:extLst>
          </p:cNvPr>
          <p:cNvSpPr/>
          <p:nvPr/>
        </p:nvSpPr>
        <p:spPr>
          <a:xfrm>
            <a:off x="2541588" y="2964815"/>
            <a:ext cx="7767637" cy="915988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think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action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films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are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more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dramatic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than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cartoons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but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are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n’t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as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exciting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as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thrillers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0" name="Rounded Rectangular Callout 41">
            <a:extLst>
              <a:ext uri="{FF2B5EF4-FFF2-40B4-BE49-F238E27FC236}">
                <a16:creationId xmlns:a16="http://schemas.microsoft.com/office/drawing/2014/main" id="{6E373D60-5A24-408B-9703-FE1AB987DB63}"/>
              </a:ext>
            </a:extLst>
          </p:cNvPr>
          <p:cNvSpPr/>
          <p:nvPr/>
        </p:nvSpPr>
        <p:spPr>
          <a:xfrm>
            <a:off x="2541588" y="4107815"/>
            <a:ext cx="8467725" cy="684213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 horror film was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too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long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and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wasn’t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scary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enough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6" name="Rounded Rectangular Callout 41">
            <a:extLst>
              <a:ext uri="{FF2B5EF4-FFF2-40B4-BE49-F238E27FC236}">
                <a16:creationId xmlns:a16="http://schemas.microsoft.com/office/drawing/2014/main" id="{A5571C93-0F0D-4495-AED2-47990C07475B}"/>
              </a:ext>
            </a:extLst>
          </p:cNvPr>
          <p:cNvSpPr/>
          <p:nvPr/>
        </p:nvSpPr>
        <p:spPr>
          <a:xfrm>
            <a:off x="2541588" y="5017453"/>
            <a:ext cx="7767637" cy="684212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That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was 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 most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interesting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film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I’ve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ever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seen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!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15" name="Rounded Rectangular Callout 41">
            <a:extLst>
              <a:ext uri="{FF2B5EF4-FFF2-40B4-BE49-F238E27FC236}">
                <a16:creationId xmlns:a16="http://schemas.microsoft.com/office/drawing/2014/main" id="{542F4BC9-FBB9-4147-854F-B308F5687CD2}"/>
              </a:ext>
            </a:extLst>
          </p:cNvPr>
          <p:cNvSpPr/>
          <p:nvPr/>
        </p:nvSpPr>
        <p:spPr>
          <a:xfrm>
            <a:off x="2106613" y="1632903"/>
            <a:ext cx="9855200" cy="1001712"/>
          </a:xfrm>
          <a:prstGeom prst="wedgeRoundRectCallout">
            <a:avLst>
              <a:gd name="adj1" fmla="val -54576"/>
              <a:gd name="adj2" fmla="val -28886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We use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comparatives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and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superlatives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compare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different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things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13319" name="Footer Placeholder 1">
            <a:extLst>
              <a:ext uri="{FF2B5EF4-FFF2-40B4-BE49-F238E27FC236}">
                <a16:creationId xmlns:a16="http://schemas.microsoft.com/office/drawing/2014/main" id="{5E302C69-D6EE-4520-8101-D371DA01FA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Copyright © 2</a:t>
            </a:r>
            <a:r>
              <a:rPr lang="pl-PL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020</a:t>
            </a:r>
            <a:r>
              <a:rPr lang="en-US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by Pearson Education      </a:t>
            </a:r>
            <a:r>
              <a:rPr lang="pl-PL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Wider World 3</a:t>
            </a:r>
            <a:endParaRPr lang="en-US" altLang="en-US" sz="1100">
              <a:solidFill>
                <a:srgbClr val="595959"/>
              </a:solidFill>
              <a:latin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13320" name="Obraz 10">
            <a:extLst>
              <a:ext uri="{FF2B5EF4-FFF2-40B4-BE49-F238E27FC236}">
                <a16:creationId xmlns:a16="http://schemas.microsoft.com/office/drawing/2014/main" id="{7AF3FE01-75AB-40E4-970F-9104F936C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1632903"/>
            <a:ext cx="12303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ular Callout 41">
            <a:extLst>
              <a:ext uri="{FF2B5EF4-FFF2-40B4-BE49-F238E27FC236}">
                <a16:creationId xmlns:a16="http://schemas.microsoft.com/office/drawing/2014/main" id="{313FBCD2-5568-437C-92CF-2EF5278C78C2}"/>
              </a:ext>
            </a:extLst>
          </p:cNvPr>
          <p:cNvSpPr/>
          <p:nvPr/>
        </p:nvSpPr>
        <p:spPr>
          <a:xfrm>
            <a:off x="2178050" y="4795838"/>
            <a:ext cx="7727950" cy="1209675"/>
          </a:xfrm>
          <a:prstGeom prst="wedgeRoundRectCallout">
            <a:avLst>
              <a:gd name="adj1" fmla="val -56550"/>
              <a:gd name="adj2" fmla="val -18697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There’s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one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comparative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adjective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endParaRPr lang="en-US" i="1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42" name="Rounded Rectangular Callout 41">
            <a:extLst>
              <a:ext uri="{FF2B5EF4-FFF2-40B4-BE49-F238E27FC236}">
                <a16:creationId xmlns:a16="http://schemas.microsoft.com/office/drawing/2014/main" id="{8096273C-9584-4A40-8AE3-9FDF0F90765E}"/>
              </a:ext>
            </a:extLst>
          </p:cNvPr>
          <p:cNvSpPr/>
          <p:nvPr/>
        </p:nvSpPr>
        <p:spPr>
          <a:xfrm>
            <a:off x="2178050" y="350838"/>
            <a:ext cx="7727950" cy="1209675"/>
          </a:xfrm>
          <a:prstGeom prst="wedgeRoundRectCallout">
            <a:avLst>
              <a:gd name="adj1" fmla="val -57150"/>
              <a:gd name="adj2" fmla="val -25791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How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many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comparatives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can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you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find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text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below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? How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many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superlatives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? How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else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does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Noah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adjectives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express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his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opinion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?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87492C91-ECB9-4B99-9B94-1586069A394C}"/>
              </a:ext>
            </a:extLst>
          </p:cNvPr>
          <p:cNvSpPr/>
          <p:nvPr/>
        </p:nvSpPr>
        <p:spPr>
          <a:xfrm>
            <a:off x="2178050" y="1812925"/>
            <a:ext cx="7727950" cy="2620963"/>
          </a:xfrm>
          <a:prstGeom prst="wedgeRoundRectCallout">
            <a:avLst>
              <a:gd name="adj1" fmla="val 59146"/>
              <a:gd name="adj2" fmla="val -17052"/>
              <a:gd name="adj3" fmla="val 16667"/>
            </a:avLst>
          </a:prstGeom>
          <a:solidFill>
            <a:srgbClr val="FAF8F0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What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films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do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you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like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? My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dad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loves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documentaries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but 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think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they’re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the most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boring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type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of film.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They’re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usually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too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long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and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they’re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not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dramatic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enough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for me. 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prefer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sci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-fi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films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aren’t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as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scary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as horror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films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but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they’re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more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exciting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than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comedies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I love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them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43E27EED-9ACE-4269-B247-D8834AB33663}"/>
              </a:ext>
            </a:extLst>
          </p:cNvPr>
          <p:cNvCxnSpPr>
            <a:cxnSpLocks/>
          </p:cNvCxnSpPr>
          <p:nvPr/>
        </p:nvCxnSpPr>
        <p:spPr>
          <a:xfrm flipH="1">
            <a:off x="3757613" y="4217988"/>
            <a:ext cx="266065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Footer Placeholder 1">
            <a:extLst>
              <a:ext uri="{FF2B5EF4-FFF2-40B4-BE49-F238E27FC236}">
                <a16:creationId xmlns:a16="http://schemas.microsoft.com/office/drawing/2014/main" id="{B6D42F32-B52F-4088-9385-D50610307E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Copyright © 2</a:t>
            </a:r>
            <a:r>
              <a:rPr lang="pl-PL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020</a:t>
            </a:r>
            <a:r>
              <a:rPr lang="en-US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by Pearson Education      </a:t>
            </a:r>
            <a:r>
              <a:rPr lang="pl-PL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Wider World 3</a:t>
            </a:r>
            <a:endParaRPr lang="en-US" altLang="en-US" sz="1100">
              <a:solidFill>
                <a:srgbClr val="595959"/>
              </a:solidFill>
              <a:latin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43CAA225-9D0B-4EE6-BA01-030AFA6858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4633913"/>
            <a:ext cx="12303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8" name="Obraz 10">
            <a:extLst>
              <a:ext uri="{FF2B5EF4-FFF2-40B4-BE49-F238E27FC236}">
                <a16:creationId xmlns:a16="http://schemas.microsoft.com/office/drawing/2014/main" id="{A6CA20B1-62F0-454D-A48F-01C003725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350838"/>
            <a:ext cx="12303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9" name="Obraz 15">
            <a:extLst>
              <a:ext uri="{FF2B5EF4-FFF2-40B4-BE49-F238E27FC236}">
                <a16:creationId xmlns:a16="http://schemas.microsoft.com/office/drawing/2014/main" id="{96E31AC3-B243-4B7F-815C-FC365B9709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375" y="2089150"/>
            <a:ext cx="123348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14A6C7-21A5-4E70-AEDB-D9FFB8CFE46C}"/>
              </a:ext>
            </a:extLst>
          </p:cNvPr>
          <p:cNvSpPr txBox="1"/>
          <p:nvPr/>
        </p:nvSpPr>
        <p:spPr>
          <a:xfrm>
            <a:off x="2178050" y="5170488"/>
            <a:ext cx="4983163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There’s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one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superlative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adjective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F5502A-0806-4351-BD92-B4693E08797A}"/>
              </a:ext>
            </a:extLst>
          </p:cNvPr>
          <p:cNvSpPr txBox="1"/>
          <p:nvPr/>
        </p:nvSpPr>
        <p:spPr>
          <a:xfrm>
            <a:off x="2246313" y="5532438"/>
            <a:ext cx="800258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Noah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also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expresses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his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opinion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like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</a:p>
        </p:txBody>
      </p:sp>
      <p:cxnSp>
        <p:nvCxnSpPr>
          <p:cNvPr id="18" name="Łącznik prosty 15">
            <a:extLst>
              <a:ext uri="{FF2B5EF4-FFF2-40B4-BE49-F238E27FC236}">
                <a16:creationId xmlns:a16="http://schemas.microsoft.com/office/drawing/2014/main" id="{D1409C77-C574-4A21-B91F-323F72B80D30}"/>
              </a:ext>
            </a:extLst>
          </p:cNvPr>
          <p:cNvCxnSpPr>
            <a:cxnSpLocks/>
          </p:cNvCxnSpPr>
          <p:nvPr/>
        </p:nvCxnSpPr>
        <p:spPr>
          <a:xfrm flipH="1">
            <a:off x="7407275" y="2752725"/>
            <a:ext cx="2282825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Łącznik prosty 15">
            <a:extLst>
              <a:ext uri="{FF2B5EF4-FFF2-40B4-BE49-F238E27FC236}">
                <a16:creationId xmlns:a16="http://schemas.microsoft.com/office/drawing/2014/main" id="{CC400ECC-E53B-413E-9724-C21D75D9D046}"/>
              </a:ext>
            </a:extLst>
          </p:cNvPr>
          <p:cNvCxnSpPr>
            <a:cxnSpLocks/>
          </p:cNvCxnSpPr>
          <p:nvPr/>
        </p:nvCxnSpPr>
        <p:spPr>
          <a:xfrm flipH="1">
            <a:off x="6784975" y="3109913"/>
            <a:ext cx="1135063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15">
            <a:extLst>
              <a:ext uri="{FF2B5EF4-FFF2-40B4-BE49-F238E27FC236}">
                <a16:creationId xmlns:a16="http://schemas.microsoft.com/office/drawing/2014/main" id="{B8349434-EA96-43E2-ACDA-A31A7A25CEC8}"/>
              </a:ext>
            </a:extLst>
          </p:cNvPr>
          <p:cNvCxnSpPr>
            <a:cxnSpLocks/>
          </p:cNvCxnSpPr>
          <p:nvPr/>
        </p:nvCxnSpPr>
        <p:spPr>
          <a:xfrm flipH="1">
            <a:off x="2901951" y="3478213"/>
            <a:ext cx="296862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15">
            <a:extLst>
              <a:ext uri="{FF2B5EF4-FFF2-40B4-BE49-F238E27FC236}">
                <a16:creationId xmlns:a16="http://schemas.microsoft.com/office/drawing/2014/main" id="{400E34B4-E0F9-4CFF-A0C7-CD0D67CB3A05}"/>
              </a:ext>
            </a:extLst>
          </p:cNvPr>
          <p:cNvCxnSpPr>
            <a:cxnSpLocks/>
          </p:cNvCxnSpPr>
          <p:nvPr/>
        </p:nvCxnSpPr>
        <p:spPr>
          <a:xfrm flipH="1" flipV="1">
            <a:off x="4712494" y="3844926"/>
            <a:ext cx="1508920" cy="1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81">
            <a:extLst>
              <a:ext uri="{FF2B5EF4-FFF2-40B4-BE49-F238E27FC236}">
                <a16:creationId xmlns:a16="http://schemas.microsoft.com/office/drawing/2014/main" id="{C073AF31-6819-4343-BAAB-CB7CEAB93FD0}"/>
              </a:ext>
            </a:extLst>
          </p:cNvPr>
          <p:cNvSpPr txBox="1">
            <a:spLocks/>
          </p:cNvSpPr>
          <p:nvPr/>
        </p:nvSpPr>
        <p:spPr>
          <a:xfrm>
            <a:off x="160338" y="233363"/>
            <a:ext cx="11855450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lnSpc>
                <a:spcPct val="90000"/>
              </a:lnSpc>
              <a:buSzPct val="25000"/>
              <a:buFont typeface="Rokkitt"/>
              <a:buNone/>
              <a:defRPr/>
            </a:pP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How do we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make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sentences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with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comparatives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superlatives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</p:txBody>
      </p:sp>
      <p:sp>
        <p:nvSpPr>
          <p:cNvPr id="17411" name="Footer Placeholder 1">
            <a:extLst>
              <a:ext uri="{FF2B5EF4-FFF2-40B4-BE49-F238E27FC236}">
                <a16:creationId xmlns:a16="http://schemas.microsoft.com/office/drawing/2014/main" id="{6CBDB57D-9FA1-4CCA-BF71-623EA1495F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Copyright © 2</a:t>
            </a:r>
            <a:r>
              <a:rPr lang="pl-PL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020</a:t>
            </a:r>
            <a:r>
              <a:rPr lang="en-US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by Pearson Education      </a:t>
            </a:r>
            <a:r>
              <a:rPr lang="pl-PL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Wider World 3</a:t>
            </a:r>
            <a:endParaRPr lang="en-US" altLang="en-US" sz="1100">
              <a:solidFill>
                <a:srgbClr val="595959"/>
              </a:solidFill>
              <a:latin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36" name="Zaokrąglony prostokąt 2">
            <a:extLst>
              <a:ext uri="{FF2B5EF4-FFF2-40B4-BE49-F238E27FC236}">
                <a16:creationId xmlns:a16="http://schemas.microsoft.com/office/drawing/2014/main" id="{DFAE041E-D9BF-4BE8-BA05-C67E0C8EED5B}"/>
              </a:ext>
            </a:extLst>
          </p:cNvPr>
          <p:cNvSpPr/>
          <p:nvPr/>
        </p:nvSpPr>
        <p:spPr>
          <a:xfrm>
            <a:off x="1416050" y="4584700"/>
            <a:ext cx="7072630" cy="1144588"/>
          </a:xfrm>
          <a:prstGeom prst="roundRect">
            <a:avLst>
              <a:gd name="adj" fmla="val 48272"/>
            </a:avLst>
          </a:prstGeom>
          <a:solidFill>
            <a:srgbClr val="EAF6FE"/>
          </a:solidFill>
          <a:ln w="76200">
            <a:solidFill>
              <a:srgbClr val="E3E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>
                <a:sym typeface="Arial"/>
              </a:rPr>
              <a:t>   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882AF02-1C74-453F-B401-840A358EB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192730"/>
              </p:ext>
            </p:extLst>
          </p:nvPr>
        </p:nvGraphicFramePr>
        <p:xfrm>
          <a:off x="1454150" y="2130425"/>
          <a:ext cx="6996113" cy="3024187"/>
        </p:xfrm>
        <a:graphic>
          <a:graphicData uri="http://schemas.openxmlformats.org/drawingml/2006/table">
            <a:tbl>
              <a:tblPr firstRow="1" bandRow="1">
                <a:tableStyleId>{C3A2CA1F-3267-4498-8071-7EE1E42671EB}</a:tableStyleId>
              </a:tblPr>
              <a:tblGrid>
                <a:gridCol w="211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7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8" marR="91438" marT="45723" marB="45723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8" marR="91438" marT="45723" marB="45723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b="1" dirty="0" err="1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Comparatives</a:t>
                      </a: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8" marR="91438" marT="45723" marB="4572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8" marR="91438" marT="45723" marB="45723">
                    <a:lnL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b="1" i="1" u="none" strike="noStrike" cap="none" dirty="0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  <a:sym typeface="Arial"/>
                        </a:rPr>
                        <a:t>(not) as … as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1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8" marR="91438" marT="45723" marB="4572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8" marR="91438" marT="45723" marB="45723">
                    <a:lnL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b="1" dirty="0" err="1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Superlatives</a:t>
                      </a:r>
                      <a:endParaRPr lang="pl-PL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8" marR="91438" marT="45723" marB="4572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8" marR="91438" marT="45723" marB="45723">
                    <a:lnL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b="1" i="1" dirty="0" err="1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too</a:t>
                      </a:r>
                      <a:r>
                        <a:rPr lang="pl-PL" sz="1600" b="1" i="1" dirty="0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 </a:t>
                      </a:r>
                      <a:r>
                        <a:rPr lang="pl-PL" sz="1600" b="1" i="0" dirty="0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/</a:t>
                      </a:r>
                      <a:r>
                        <a:rPr lang="pl-PL" sz="1600" b="1" i="1" dirty="0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 (not) </a:t>
                      </a:r>
                      <a:r>
                        <a:rPr lang="pl-PL" sz="1600" b="1" i="1" dirty="0" err="1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enough</a:t>
                      </a:r>
                      <a:endParaRPr lang="en-GB" sz="1600" b="1" i="1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8" marR="91438" marT="45723" marB="45723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8" marR="91438" marT="45723" marB="45723">
                    <a:lnL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4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E9F1FF00-999E-469C-A234-35AFFC63E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825" y="2807494"/>
            <a:ext cx="49355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 theatre is</a:t>
            </a:r>
            <a:r>
              <a:rPr lang="en-GB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more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interesting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than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 cinema.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F41137-2FBB-4D74-91CA-2C2A72E37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825" y="3848100"/>
            <a:ext cx="48609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He’s</a:t>
            </a:r>
            <a:r>
              <a:rPr lang="en-GB" altLang="en-US" sz="1600" b="1" dirty="0">
                <a:solidFill>
                  <a:schemeClr val="tx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 most popular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actor in Hollywood.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4E38D8-B8BB-4330-905B-C40E6EE9A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825" y="4498178"/>
            <a:ext cx="48593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 screen is</a:t>
            </a:r>
            <a:r>
              <a:rPr lang="en-GB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too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dark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A04F92-E17F-487B-96AA-FCD55D2DD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825" y="3201981"/>
            <a:ext cx="4876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 cinema is 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not as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interesting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as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 theatre.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9CF560-B805-4A64-94D0-0757C5301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825" y="3455980"/>
            <a:ext cx="4876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 film adaptation is 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as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good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as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 book.</a:t>
            </a:r>
          </a:p>
        </p:txBody>
      </p:sp>
      <p:sp>
        <p:nvSpPr>
          <p:cNvPr id="52" name="Cloud 51">
            <a:extLst>
              <a:ext uri="{FF2B5EF4-FFF2-40B4-BE49-F238E27FC236}">
                <a16:creationId xmlns:a16="http://schemas.microsoft.com/office/drawing/2014/main" id="{D3FBF46A-25A9-4CB9-B31C-B8F0CFC71852}"/>
              </a:ext>
            </a:extLst>
          </p:cNvPr>
          <p:cNvSpPr/>
          <p:nvPr/>
        </p:nvSpPr>
        <p:spPr>
          <a:xfrm>
            <a:off x="8500269" y="1484313"/>
            <a:ext cx="3336925" cy="1358900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kern="0" dirty="0">
              <a:sym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86507B-2F2C-43A3-9B91-5FF78B92D257}"/>
              </a:ext>
            </a:extLst>
          </p:cNvPr>
          <p:cNvSpPr txBox="1"/>
          <p:nvPr/>
        </p:nvSpPr>
        <p:spPr>
          <a:xfrm>
            <a:off x="8855869" y="1654175"/>
            <a:ext cx="2649538" cy="1077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To compare two people or things, we use the </a:t>
            </a:r>
            <a:r>
              <a:rPr lang="en-GB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comparative form + </a:t>
            </a:r>
            <a:r>
              <a:rPr lang="en-GB" sz="1600" b="1" i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than</a:t>
            </a: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.</a:t>
            </a:r>
          </a:p>
        </p:txBody>
      </p:sp>
      <p:sp>
        <p:nvSpPr>
          <p:cNvPr id="54" name="Cloud 53">
            <a:extLst>
              <a:ext uri="{FF2B5EF4-FFF2-40B4-BE49-F238E27FC236}">
                <a16:creationId xmlns:a16="http://schemas.microsoft.com/office/drawing/2014/main" id="{6F92441E-C68D-4413-BC0C-91606A997BFE}"/>
              </a:ext>
            </a:extLst>
          </p:cNvPr>
          <p:cNvSpPr/>
          <p:nvPr/>
        </p:nvSpPr>
        <p:spPr>
          <a:xfrm>
            <a:off x="8391525" y="2709863"/>
            <a:ext cx="3495675" cy="1616075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kern="0" dirty="0">
              <a:sym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99A1C2-B19B-4A78-B98F-DCBA69F5B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825" y="4753762"/>
            <a:ext cx="48593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 screen is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n’t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bright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enough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1D6C00-736C-415A-A678-614163E21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825" y="4101307"/>
            <a:ext cx="48593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It’s</a:t>
            </a:r>
            <a:r>
              <a:rPr lang="en-GB" altLang="en-US" sz="1600" b="1" dirty="0">
                <a:solidFill>
                  <a:schemeClr val="tx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cleanest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cinema we’ve been to.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826CD1-485F-4212-B755-3174EF8CE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825" y="2561432"/>
            <a:ext cx="40528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</a:t>
            </a:r>
            <a:r>
              <a:rPr lang="en-GB" altLang="en-US" sz="1600" dirty="0">
                <a:solidFill>
                  <a:schemeClr val="tx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cinema</a:t>
            </a:r>
            <a:r>
              <a:rPr lang="en-GB" altLang="en-US" sz="1600" dirty="0">
                <a:solidFill>
                  <a:schemeClr val="tx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is</a:t>
            </a:r>
            <a:r>
              <a:rPr lang="en-GB" altLang="en-US" sz="1600" b="1" dirty="0">
                <a:solidFill>
                  <a:schemeClr val="tx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cheaper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than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</a:t>
            </a:r>
            <a:r>
              <a:rPr lang="en-GB" altLang="en-US" sz="1600" dirty="0">
                <a:solidFill>
                  <a:schemeClr val="tx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theatre.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25ABAAC-C970-47E5-B6FB-A39C79A86CC4}"/>
              </a:ext>
            </a:extLst>
          </p:cNvPr>
          <p:cNvSpPr/>
          <p:nvPr/>
        </p:nvSpPr>
        <p:spPr>
          <a:xfrm>
            <a:off x="8661400" y="2895600"/>
            <a:ext cx="2933700" cy="15382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We use </a:t>
            </a:r>
            <a:r>
              <a:rPr lang="en-GB" sz="1600" b="1" i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as … as </a:t>
            </a:r>
            <a:r>
              <a:rPr lang="en-GB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+ adjective </a:t>
            </a: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to say two people or things are equal, and </a:t>
            </a:r>
            <a:r>
              <a:rPr lang="en-GB" sz="1600" b="1" i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not as … as </a:t>
            </a:r>
            <a:r>
              <a:rPr lang="en-GB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+ adjective </a:t>
            </a: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to say they’re </a:t>
            </a:r>
            <a:b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not equal.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3" name="Pięciokąt 29">
            <a:extLst>
              <a:ext uri="{FF2B5EF4-FFF2-40B4-BE49-F238E27FC236}">
                <a16:creationId xmlns:a16="http://schemas.microsoft.com/office/drawing/2014/main" id="{A1671BCF-5CA5-4D6C-9BF4-0A6F78722632}"/>
              </a:ext>
            </a:extLst>
          </p:cNvPr>
          <p:cNvSpPr/>
          <p:nvPr/>
        </p:nvSpPr>
        <p:spPr>
          <a:xfrm>
            <a:off x="1452563" y="2124075"/>
            <a:ext cx="3478848" cy="338138"/>
          </a:xfrm>
          <a:prstGeom prst="homePlate">
            <a:avLst/>
          </a:prstGeom>
          <a:solidFill>
            <a:srgbClr val="009E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kern="0" dirty="0" err="1">
                <a:latin typeface="Open Sans" charset="0"/>
                <a:ea typeface="Open Sans" charset="0"/>
                <a:cs typeface="Open Sans" charset="0"/>
                <a:sym typeface="Arial"/>
              </a:rPr>
              <a:t>Comparatives</a:t>
            </a:r>
            <a:r>
              <a:rPr lang="pl-PL" sz="1600" b="1" kern="0" dirty="0">
                <a:latin typeface="Open Sans" charset="0"/>
                <a:ea typeface="Open Sans" charset="0"/>
                <a:cs typeface="Open Sans" charset="0"/>
                <a:sym typeface="Arial"/>
              </a:rPr>
              <a:t> and </a:t>
            </a:r>
            <a:r>
              <a:rPr lang="pl-PL" sz="1600" b="1" kern="0" dirty="0" err="1">
                <a:latin typeface="Open Sans" charset="0"/>
                <a:ea typeface="Open Sans" charset="0"/>
                <a:cs typeface="Open Sans" charset="0"/>
                <a:sym typeface="Arial"/>
              </a:rPr>
              <a:t>superlatives</a:t>
            </a:r>
            <a:endParaRPr lang="en-GB" sz="1600" b="1" kern="0" dirty="0"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53" name="Cloud 52">
            <a:extLst>
              <a:ext uri="{FF2B5EF4-FFF2-40B4-BE49-F238E27FC236}">
                <a16:creationId xmlns:a16="http://schemas.microsoft.com/office/drawing/2014/main" id="{00149D54-568B-418D-B9F2-4DC3614C7AAD}"/>
              </a:ext>
            </a:extLst>
          </p:cNvPr>
          <p:cNvSpPr/>
          <p:nvPr/>
        </p:nvSpPr>
        <p:spPr>
          <a:xfrm>
            <a:off x="7231063" y="4124325"/>
            <a:ext cx="4656137" cy="1439863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kern="0" dirty="0">
              <a:sym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15EA4D-471F-4B42-9ECA-748F8E15F46E}"/>
              </a:ext>
            </a:extLst>
          </p:cNvPr>
          <p:cNvSpPr txBox="1"/>
          <p:nvPr/>
        </p:nvSpPr>
        <p:spPr>
          <a:xfrm>
            <a:off x="7583488" y="4333875"/>
            <a:ext cx="4021137" cy="1077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To compare one person or thing with the rest of a group, we use the </a:t>
            </a:r>
            <a:r>
              <a:rPr lang="en-GB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superlative form</a:t>
            </a: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. We usually use </a:t>
            </a:r>
            <a:r>
              <a:rPr lang="en-GB" sz="1600" b="1" i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the</a:t>
            </a: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before a superlative.</a:t>
            </a:r>
          </a:p>
        </p:txBody>
      </p:sp>
      <p:sp>
        <p:nvSpPr>
          <p:cNvPr id="55" name="Cloud 54">
            <a:extLst>
              <a:ext uri="{FF2B5EF4-FFF2-40B4-BE49-F238E27FC236}">
                <a16:creationId xmlns:a16="http://schemas.microsoft.com/office/drawing/2014/main" id="{60D4B870-1D8F-4D1E-91C6-D3DC6B00FA39}"/>
              </a:ext>
            </a:extLst>
          </p:cNvPr>
          <p:cNvSpPr/>
          <p:nvPr/>
        </p:nvSpPr>
        <p:spPr>
          <a:xfrm>
            <a:off x="6164263" y="5353050"/>
            <a:ext cx="3436937" cy="1289050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kern="0" dirty="0"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76B1B7-AEEC-4D1B-81EC-4BBA155855C2}"/>
              </a:ext>
            </a:extLst>
          </p:cNvPr>
          <p:cNvSpPr txBox="1"/>
          <p:nvPr/>
        </p:nvSpPr>
        <p:spPr>
          <a:xfrm>
            <a:off x="6473825" y="5634038"/>
            <a:ext cx="2816225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We use </a:t>
            </a:r>
            <a:r>
              <a:rPr lang="en-GB" sz="1600" b="1" i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too</a:t>
            </a: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en-GB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+ adjective </a:t>
            </a: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and </a:t>
            </a:r>
            <a:r>
              <a:rPr lang="en-GB" sz="1600" b="1" i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not enough</a:t>
            </a:r>
            <a:r>
              <a:rPr lang="en-GB" sz="1600" i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en-GB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+ adjective </a:t>
            </a: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to make a criticism.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8" grpId="0"/>
      <p:bldP spid="49" grpId="0"/>
      <p:bldP spid="51" grpId="0"/>
      <p:bldP spid="40" grpId="0"/>
      <p:bldP spid="56" grpId="0"/>
      <p:bldP spid="57" grpId="0"/>
      <p:bldP spid="58" grpId="0"/>
      <p:bldP spid="50" grpId="0"/>
      <p:bldP spid="47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1">
            <a:extLst>
              <a:ext uri="{FF2B5EF4-FFF2-40B4-BE49-F238E27FC236}">
                <a16:creationId xmlns:a16="http://schemas.microsoft.com/office/drawing/2014/main" id="{8D714E1B-3EC6-45B7-8864-91FF57F2B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2325688"/>
            <a:ext cx="9813925" cy="3855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300000"/>
              </a:lnSpc>
            </a:pPr>
            <a:r>
              <a:rPr lang="en-GB" altLang="en-US" dirty="0">
                <a:latin typeface="Open Sans" panose="020B0606030504020204" pitchFamily="34" charset="0"/>
                <a:cs typeface="Open Sans" panose="020B0606030504020204" pitchFamily="34" charset="0"/>
              </a:rPr>
              <a:t>Well, I often go to the cinema, and here are my three favourites. Multi-Film and </a:t>
            </a:r>
            <a:r>
              <a:rPr lang="en-GB" altLang="en-US" dirty="0" err="1">
                <a:latin typeface="Open Sans" panose="020B0606030504020204" pitchFamily="34" charset="0"/>
                <a:cs typeface="Open Sans" panose="020B0606030504020204" pitchFamily="34" charset="0"/>
              </a:rPr>
              <a:t>MacroMovie</a:t>
            </a:r>
            <a:r>
              <a:rPr lang="en-GB" altLang="en-US" dirty="0">
                <a:latin typeface="Open Sans" panose="020B0606030504020204" pitchFamily="34" charset="0"/>
                <a:cs typeface="Open Sans" panose="020B0606030504020204" pitchFamily="34" charset="0"/>
              </a:rPr>
              <a:t> are two typical multiplex cinemas. </a:t>
            </a:r>
            <a:r>
              <a:rPr lang="en-GB" altLang="en-US" dirty="0" err="1">
                <a:latin typeface="Open Sans" panose="020B0606030504020204" pitchFamily="34" charset="0"/>
                <a:cs typeface="Open Sans" panose="020B0606030504020204" pitchFamily="34" charset="0"/>
              </a:rPr>
              <a:t>MacroMovie</a:t>
            </a:r>
            <a:r>
              <a:rPr lang="en-GB" altLang="en-US" dirty="0">
                <a:latin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GB" altLang="en-US" baseline="30000" dirty="0">
                <a:latin typeface="Open Sans" panose="020B0606030504020204" pitchFamily="34" charset="0"/>
                <a:cs typeface="Open Sans" panose="020B0606030504020204" pitchFamily="34" charset="0"/>
              </a:rPr>
              <a:t>1</a:t>
            </a:r>
            <a:r>
              <a:rPr lang="en-GB" altLang="en-US" dirty="0">
                <a:latin typeface="Open Sans" panose="020B0606030504020204" pitchFamily="34" charset="0"/>
                <a:cs typeface="Open Sans" panose="020B0606030504020204" pitchFamily="34" charset="0"/>
              </a:rPr>
              <a:t>_____________________ to the city centre than the other two cinemas, and it has </a:t>
            </a:r>
            <a:r>
              <a:rPr lang="en-GB" altLang="en-US" baseline="30000" dirty="0">
                <a:latin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GB" altLang="en-US" dirty="0">
                <a:latin typeface="Open Sans" panose="020B0606030504020204" pitchFamily="34" charset="0"/>
                <a:cs typeface="Open Sans" panose="020B0606030504020204" pitchFamily="34" charset="0"/>
              </a:rPr>
              <a:t>___________________  screens. They’re huge! But it’s also </a:t>
            </a:r>
            <a:r>
              <a:rPr lang="en-GB" altLang="en-US" baseline="30000" dirty="0">
                <a:latin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GB" altLang="en-US" dirty="0">
                <a:latin typeface="Open Sans" panose="020B0606030504020204" pitchFamily="34" charset="0"/>
                <a:cs typeface="Open Sans" panose="020B0606030504020204" pitchFamily="34" charset="0"/>
              </a:rPr>
              <a:t>_____________________ than the other cinemas so I don’t go there so often. The tickets are </a:t>
            </a:r>
            <a:r>
              <a:rPr lang="en-GB" altLang="en-US" baseline="30000" dirty="0">
                <a:latin typeface="Open Sans" panose="020B0606030504020204" pitchFamily="34" charset="0"/>
                <a:cs typeface="Open Sans" panose="020B0606030504020204" pitchFamily="34" charset="0"/>
              </a:rPr>
              <a:t>4</a:t>
            </a:r>
            <a:r>
              <a:rPr lang="en-GB" altLang="en-US" dirty="0">
                <a:latin typeface="Open Sans" panose="020B0606030504020204" pitchFamily="34" charset="0"/>
                <a:cs typeface="Open Sans" panose="020B0606030504020204" pitchFamily="34" charset="0"/>
              </a:rPr>
              <a:t>_____________________ if you ask me. I like Multi-Film because the seats are </a:t>
            </a:r>
            <a:r>
              <a:rPr lang="en-GB" altLang="en-US" baseline="30000" dirty="0">
                <a:latin typeface="Open Sans" panose="020B0606030504020204" pitchFamily="34" charset="0"/>
                <a:cs typeface="Open Sans" panose="020B0606030504020204" pitchFamily="34" charset="0"/>
              </a:rPr>
              <a:t>5</a:t>
            </a:r>
            <a:r>
              <a:rPr lang="en-GB" altLang="en-US" dirty="0">
                <a:latin typeface="Open Sans" panose="020B0606030504020204" pitchFamily="34" charset="0"/>
                <a:cs typeface="Open Sans" panose="020B0606030504020204" pitchFamily="34" charset="0"/>
              </a:rPr>
              <a:t>________________________ in </a:t>
            </a:r>
            <a:r>
              <a:rPr lang="en-GB" altLang="en-US" dirty="0" err="1">
                <a:latin typeface="Open Sans" panose="020B0606030504020204" pitchFamily="34" charset="0"/>
                <a:cs typeface="Open Sans" panose="020B0606030504020204" pitchFamily="34" charset="0"/>
              </a:rPr>
              <a:t>Macromovie</a:t>
            </a:r>
            <a:r>
              <a:rPr lang="en-GB" altLang="en-US" dirty="0">
                <a:latin typeface="Open Sans" panose="020B0606030504020204" pitchFamily="34" charset="0"/>
                <a:cs typeface="Open Sans" panose="020B0606030504020204" pitchFamily="34" charset="0"/>
              </a:rPr>
              <a:t>, but the tickets are </a:t>
            </a:r>
            <a:r>
              <a:rPr lang="en-GB" altLang="en-US" baseline="30000" dirty="0">
                <a:latin typeface="Open Sans" panose="020B0606030504020204" pitchFamily="34" charset="0"/>
                <a:cs typeface="Open Sans" panose="020B0606030504020204" pitchFamily="34" charset="0"/>
              </a:rPr>
              <a:t>6</a:t>
            </a:r>
            <a:r>
              <a:rPr lang="en-GB" altLang="en-US" dirty="0">
                <a:latin typeface="Open Sans" panose="020B0606030504020204" pitchFamily="34" charset="0"/>
                <a:cs typeface="Open Sans" panose="020B0606030504020204" pitchFamily="34" charset="0"/>
              </a:rPr>
              <a:t> ___________________ . But I often choose Chaplin cinema. Maybe the chairs aren’t </a:t>
            </a:r>
            <a:r>
              <a:rPr lang="en-GB" altLang="en-US" baseline="30000" dirty="0">
                <a:latin typeface="Open Sans" panose="020B0606030504020204" pitchFamily="34" charset="0"/>
                <a:cs typeface="Open Sans" panose="020B0606030504020204" pitchFamily="34" charset="0"/>
              </a:rPr>
              <a:t>7</a:t>
            </a:r>
            <a:r>
              <a:rPr lang="en-GB" altLang="en-US" dirty="0">
                <a:latin typeface="Open Sans" panose="020B0606030504020204" pitchFamily="34" charset="0"/>
                <a:cs typeface="Open Sans" panose="020B0606030504020204" pitchFamily="34" charset="0"/>
              </a:rPr>
              <a:t> ________________________ , but I think the quality of sound is </a:t>
            </a:r>
            <a:r>
              <a:rPr lang="en-GB" altLang="en-US" baseline="30000" dirty="0">
                <a:latin typeface="Open Sans" panose="020B0606030504020204" pitchFamily="34" charset="0"/>
                <a:cs typeface="Open Sans" panose="020B0606030504020204" pitchFamily="34" charset="0"/>
              </a:rPr>
              <a:t>8</a:t>
            </a:r>
            <a:r>
              <a:rPr lang="en-GB" altLang="en-US" dirty="0">
                <a:latin typeface="Open Sans" panose="020B0606030504020204" pitchFamily="34" charset="0"/>
                <a:cs typeface="Open Sans" panose="020B0606030504020204" pitchFamily="34" charset="0"/>
              </a:rPr>
              <a:t> _____________ of all the cinemas.</a:t>
            </a:r>
          </a:p>
        </p:txBody>
      </p:sp>
      <p:sp>
        <p:nvSpPr>
          <p:cNvPr id="30" name="Shape 82">
            <a:extLst>
              <a:ext uri="{FF2B5EF4-FFF2-40B4-BE49-F238E27FC236}">
                <a16:creationId xmlns:a16="http://schemas.microsoft.com/office/drawing/2014/main" id="{0B0436B2-615D-4751-A888-B79F4E070293}"/>
              </a:ext>
            </a:extLst>
          </p:cNvPr>
          <p:cNvSpPr txBox="1">
            <a:spLocks/>
          </p:cNvSpPr>
          <p:nvPr/>
        </p:nvSpPr>
        <p:spPr>
          <a:xfrm>
            <a:off x="1762125" y="922338"/>
            <a:ext cx="6757988" cy="8429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fontAlgn="auto" hangingPunct="1">
              <a:lnSpc>
                <a:spcPts val="2600"/>
              </a:lnSpc>
              <a:spcAft>
                <a:spcPts val="0"/>
              </a:spcAft>
              <a:buClr>
                <a:srgbClr val="9E3611"/>
              </a:buClr>
              <a:buSzPct val="25000"/>
              <a:buFontTx/>
              <a:buNone/>
              <a:defRPr/>
            </a:pP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Complete the </a:t>
            </a:r>
            <a:r>
              <a:rPr lang="pl-PL" sz="2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text</a:t>
            </a: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with the </a:t>
            </a:r>
            <a:r>
              <a:rPr lang="pl-PL" sz="2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words</a:t>
            </a: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</a:t>
            </a:r>
            <a:r>
              <a:rPr lang="pl-PL" sz="2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below</a:t>
            </a: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.</a:t>
            </a:r>
            <a:endParaRPr lang="en-US" sz="2000" b="1" kern="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8310D4-C572-4204-BD8E-A4858E62F030}"/>
              </a:ext>
            </a:extLst>
          </p:cNvPr>
          <p:cNvSpPr/>
          <p:nvPr/>
        </p:nvSpPr>
        <p:spPr>
          <a:xfrm>
            <a:off x="755651" y="3813175"/>
            <a:ext cx="711200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bigger</a:t>
            </a:r>
            <a:endParaRPr lang="en-GB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8" name="Shape 81">
            <a:extLst>
              <a:ext uri="{FF2B5EF4-FFF2-40B4-BE49-F238E27FC236}">
                <a16:creationId xmlns:a16="http://schemas.microsoft.com/office/drawing/2014/main" id="{4F1E808D-2BB2-46F4-B12F-DB5AB36770F6}"/>
              </a:ext>
            </a:extLst>
          </p:cNvPr>
          <p:cNvSpPr txBox="1">
            <a:spLocks/>
          </p:cNvSpPr>
          <p:nvPr/>
        </p:nvSpPr>
        <p:spPr>
          <a:xfrm>
            <a:off x="1762125" y="233363"/>
            <a:ext cx="4533900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ct val="25000"/>
              <a:buFont typeface="Rokkitt"/>
              <a:defRPr sz="4400" b="1">
                <a:solidFill>
                  <a:srgbClr val="1C4587"/>
                </a:solidFill>
                <a:latin typeface="Open Sans"/>
                <a:ea typeface="Open Sans"/>
                <a:cs typeface="Open Sans"/>
              </a:defRPr>
            </a:lvl1pPr>
            <a:lvl2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Practice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Time</a:t>
            </a:r>
          </a:p>
        </p:txBody>
      </p:sp>
      <p:sp>
        <p:nvSpPr>
          <p:cNvPr id="16" name="Rectangle 32">
            <a:extLst>
              <a:ext uri="{FF2B5EF4-FFF2-40B4-BE49-F238E27FC236}">
                <a16:creationId xmlns:a16="http://schemas.microsoft.com/office/drawing/2014/main" id="{D87BE11F-72AD-48DA-8A6B-C23D0422091B}"/>
              </a:ext>
            </a:extLst>
          </p:cNvPr>
          <p:cNvSpPr/>
          <p:nvPr/>
        </p:nvSpPr>
        <p:spPr>
          <a:xfrm>
            <a:off x="7408863" y="5754688"/>
            <a:ext cx="866775" cy="3063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the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best</a:t>
            </a:r>
            <a:endParaRPr lang="en-GB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7" name="Rectangle 32">
            <a:extLst>
              <a:ext uri="{FF2B5EF4-FFF2-40B4-BE49-F238E27FC236}">
                <a16:creationId xmlns:a16="http://schemas.microsoft.com/office/drawing/2014/main" id="{8D473265-6BCF-4BBE-8599-C0CB706BA622}"/>
              </a:ext>
            </a:extLst>
          </p:cNvPr>
          <p:cNvSpPr/>
          <p:nvPr/>
        </p:nvSpPr>
        <p:spPr>
          <a:xfrm>
            <a:off x="4985544" y="3816350"/>
            <a:ext cx="1520825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more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expensive</a:t>
            </a:r>
            <a:endParaRPr lang="en-GB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9" name="Rectangle 32">
            <a:extLst>
              <a:ext uri="{FF2B5EF4-FFF2-40B4-BE49-F238E27FC236}">
                <a16:creationId xmlns:a16="http://schemas.microsoft.com/office/drawing/2014/main" id="{67E7CEC6-6F95-46C8-BBF4-7EF7664C5B7C}"/>
              </a:ext>
            </a:extLst>
          </p:cNvPr>
          <p:cNvSpPr/>
          <p:nvPr/>
        </p:nvSpPr>
        <p:spPr>
          <a:xfrm>
            <a:off x="3028951" y="4464050"/>
            <a:ext cx="1350962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too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expensive</a:t>
            </a:r>
            <a:endParaRPr lang="en-GB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0" name="Rectangle 32">
            <a:extLst>
              <a:ext uri="{FF2B5EF4-FFF2-40B4-BE49-F238E27FC236}">
                <a16:creationId xmlns:a16="http://schemas.microsoft.com/office/drawing/2014/main" id="{6C8D7522-0DD3-4DD9-98AB-5FC362933BD0}"/>
              </a:ext>
            </a:extLst>
          </p:cNvPr>
          <p:cNvSpPr/>
          <p:nvPr/>
        </p:nvSpPr>
        <p:spPr>
          <a:xfrm>
            <a:off x="490538" y="5116513"/>
            <a:ext cx="1670050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as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comfortable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as</a:t>
            </a:r>
            <a:endParaRPr lang="en-GB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008A99ED-8EF1-4094-BB4D-866BAFC6A7B8}"/>
              </a:ext>
            </a:extLst>
          </p:cNvPr>
          <p:cNvSpPr txBox="1"/>
          <p:nvPr/>
        </p:nvSpPr>
        <p:spPr>
          <a:xfrm>
            <a:off x="1826412" y="1493088"/>
            <a:ext cx="9984588" cy="79162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more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expensive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         </a:t>
            </a:r>
            <a:r>
              <a:rPr lang="pl-PL" sz="1600" strike="sngStrike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closer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         </a:t>
            </a:r>
            <a:r>
              <a:rPr lang="pl-PL" sz="16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bigger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         the </a:t>
            </a:r>
            <a:r>
              <a:rPr lang="pl-PL" sz="16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best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         </a:t>
            </a:r>
            <a:r>
              <a:rPr lang="pl-PL" sz="16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comfortable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enough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          </a:t>
            </a:r>
            <a:b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r>
              <a:rPr lang="pl-PL" sz="16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too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expensive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         </a:t>
            </a:r>
            <a:r>
              <a:rPr lang="pl-PL" sz="16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cheaper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         as </a:t>
            </a:r>
            <a:r>
              <a:rPr lang="pl-PL" sz="16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comfortable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as</a:t>
            </a:r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E23A7A12-5DCE-44DF-889D-6A9DFAA27E19}"/>
              </a:ext>
            </a:extLst>
          </p:cNvPr>
          <p:cNvCxnSpPr>
            <a:cxnSpLocks/>
          </p:cNvCxnSpPr>
          <p:nvPr/>
        </p:nvCxnSpPr>
        <p:spPr>
          <a:xfrm flipV="1">
            <a:off x="4997450" y="1770064"/>
            <a:ext cx="661988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BF222F0B-6D63-43B0-B9B6-56523DE7137A}"/>
              </a:ext>
            </a:extLst>
          </p:cNvPr>
          <p:cNvCxnSpPr>
            <a:cxnSpLocks/>
          </p:cNvCxnSpPr>
          <p:nvPr/>
        </p:nvCxnSpPr>
        <p:spPr>
          <a:xfrm>
            <a:off x="6136481" y="1763714"/>
            <a:ext cx="79771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Łącznik prosty 20">
            <a:extLst>
              <a:ext uri="{FF2B5EF4-FFF2-40B4-BE49-F238E27FC236}">
                <a16:creationId xmlns:a16="http://schemas.microsoft.com/office/drawing/2014/main" id="{43CF47AD-8AD0-42CC-AD89-4A20E3B27173}"/>
              </a:ext>
            </a:extLst>
          </p:cNvPr>
          <p:cNvCxnSpPr>
            <a:cxnSpLocks/>
          </p:cNvCxnSpPr>
          <p:nvPr/>
        </p:nvCxnSpPr>
        <p:spPr>
          <a:xfrm>
            <a:off x="1874836" y="2135186"/>
            <a:ext cx="139065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21">
            <a:extLst>
              <a:ext uri="{FF2B5EF4-FFF2-40B4-BE49-F238E27FC236}">
                <a16:creationId xmlns:a16="http://schemas.microsoft.com/office/drawing/2014/main" id="{88EC66A0-2757-4B28-8D87-2E3C2BBEE668}"/>
              </a:ext>
            </a:extLst>
          </p:cNvPr>
          <p:cNvCxnSpPr>
            <a:cxnSpLocks/>
          </p:cNvCxnSpPr>
          <p:nvPr/>
        </p:nvCxnSpPr>
        <p:spPr>
          <a:xfrm>
            <a:off x="5026819" y="2135186"/>
            <a:ext cx="17240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Łącznik prosty 23">
            <a:extLst>
              <a:ext uri="{FF2B5EF4-FFF2-40B4-BE49-F238E27FC236}">
                <a16:creationId xmlns:a16="http://schemas.microsoft.com/office/drawing/2014/main" id="{22388D97-B0A5-41E7-906F-BB62F9FC45C4}"/>
              </a:ext>
            </a:extLst>
          </p:cNvPr>
          <p:cNvCxnSpPr>
            <a:cxnSpLocks/>
          </p:cNvCxnSpPr>
          <p:nvPr/>
        </p:nvCxnSpPr>
        <p:spPr>
          <a:xfrm>
            <a:off x="1889124" y="1770064"/>
            <a:ext cx="156368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72" name="TextBox 1">
            <a:extLst>
              <a:ext uri="{FF2B5EF4-FFF2-40B4-BE49-F238E27FC236}">
                <a16:creationId xmlns:a16="http://schemas.microsoft.com/office/drawing/2014/main" id="{B289ED74-495E-444D-820C-A4656820E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1570038"/>
            <a:ext cx="46038" cy="338137"/>
          </a:xfrm>
          <a:prstGeom prst="rect">
            <a:avLst/>
          </a:prstGeom>
          <a:noFill/>
          <a:ln w="57150">
            <a:solidFill>
              <a:srgbClr val="BFBFB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pl-PL" altLang="en-US" sz="160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473" name="Footer Placeholder 1">
            <a:extLst>
              <a:ext uri="{FF2B5EF4-FFF2-40B4-BE49-F238E27FC236}">
                <a16:creationId xmlns:a16="http://schemas.microsoft.com/office/drawing/2014/main" id="{38F646BD-EFD7-468D-AE37-85163FFE90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Copyright © 2</a:t>
            </a:r>
            <a:r>
              <a:rPr lang="pl-PL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020</a:t>
            </a:r>
            <a:r>
              <a:rPr lang="en-US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by Pearson Education      </a:t>
            </a:r>
            <a:r>
              <a:rPr lang="pl-PL" altLang="en-US"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Wider World 3</a:t>
            </a:r>
            <a:endParaRPr lang="en-US" altLang="en-US" sz="1100">
              <a:solidFill>
                <a:srgbClr val="595959"/>
              </a:solidFill>
              <a:latin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23" name="Rectangle 32">
            <a:extLst>
              <a:ext uri="{FF2B5EF4-FFF2-40B4-BE49-F238E27FC236}">
                <a16:creationId xmlns:a16="http://schemas.microsoft.com/office/drawing/2014/main" id="{C4515DAF-B7F6-49C5-BC76-3291CEE63178}"/>
              </a:ext>
            </a:extLst>
          </p:cNvPr>
          <p:cNvSpPr/>
          <p:nvPr/>
        </p:nvSpPr>
        <p:spPr>
          <a:xfrm>
            <a:off x="3659188" y="3195638"/>
            <a:ext cx="720725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closer</a:t>
            </a:r>
            <a:endParaRPr lang="en-GB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pic>
        <p:nvPicPr>
          <p:cNvPr id="19475" name="Obraz 10">
            <a:extLst>
              <a:ext uri="{FF2B5EF4-FFF2-40B4-BE49-F238E27FC236}">
                <a16:creationId xmlns:a16="http://schemas.microsoft.com/office/drawing/2014/main" id="{1AE75E80-D8A7-41A3-8ADF-26032F1A9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33363"/>
            <a:ext cx="12319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Rectangle 32">
            <a:extLst>
              <a:ext uri="{FF2B5EF4-FFF2-40B4-BE49-F238E27FC236}">
                <a16:creationId xmlns:a16="http://schemas.microsoft.com/office/drawing/2014/main" id="{1E85B812-6049-4056-86E7-517279052EC5}"/>
              </a:ext>
            </a:extLst>
          </p:cNvPr>
          <p:cNvSpPr/>
          <p:nvPr/>
        </p:nvSpPr>
        <p:spPr>
          <a:xfrm>
            <a:off x="5659438" y="5105400"/>
            <a:ext cx="866775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cheaper</a:t>
            </a:r>
            <a:endParaRPr lang="en-GB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9" name="Rectangle 32">
            <a:extLst>
              <a:ext uri="{FF2B5EF4-FFF2-40B4-BE49-F238E27FC236}">
                <a16:creationId xmlns:a16="http://schemas.microsoft.com/office/drawing/2014/main" id="{441CE8BC-3469-426F-8337-57966BE91A83}"/>
              </a:ext>
            </a:extLst>
          </p:cNvPr>
          <p:cNvSpPr/>
          <p:nvPr/>
        </p:nvSpPr>
        <p:spPr>
          <a:xfrm>
            <a:off x="2430463" y="5745163"/>
            <a:ext cx="1895475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comfortable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enough</a:t>
            </a:r>
            <a:endParaRPr lang="en-GB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cxnSp>
        <p:nvCxnSpPr>
          <p:cNvPr id="31" name="Łącznik prosty 21">
            <a:extLst>
              <a:ext uri="{FF2B5EF4-FFF2-40B4-BE49-F238E27FC236}">
                <a16:creationId xmlns:a16="http://schemas.microsoft.com/office/drawing/2014/main" id="{9051239B-AF79-4E11-B2DD-43A6FDF45C81}"/>
              </a:ext>
            </a:extLst>
          </p:cNvPr>
          <p:cNvCxnSpPr>
            <a:cxnSpLocks/>
          </p:cNvCxnSpPr>
          <p:nvPr/>
        </p:nvCxnSpPr>
        <p:spPr>
          <a:xfrm flipV="1">
            <a:off x="7402515" y="1747840"/>
            <a:ext cx="2012950" cy="1349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Łącznik prosty 21">
            <a:extLst>
              <a:ext uri="{FF2B5EF4-FFF2-40B4-BE49-F238E27FC236}">
                <a16:creationId xmlns:a16="http://schemas.microsoft.com/office/drawing/2014/main" id="{5ED2F783-894D-4189-A6BC-71A57C75EEA4}"/>
              </a:ext>
            </a:extLst>
          </p:cNvPr>
          <p:cNvCxnSpPr>
            <a:cxnSpLocks/>
          </p:cNvCxnSpPr>
          <p:nvPr/>
        </p:nvCxnSpPr>
        <p:spPr>
          <a:xfrm>
            <a:off x="3734594" y="2135186"/>
            <a:ext cx="799306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6" grpId="0"/>
      <p:bldP spid="17" grpId="0"/>
      <p:bldP spid="19" grpId="0"/>
      <p:bldP spid="20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6319</TotalTime>
  <Words>552</Words>
  <Application>Microsoft Office PowerPoint</Application>
  <PresentationFormat>Panoramiczny</PresentationFormat>
  <Paragraphs>49</Paragraphs>
  <Slides>5</Slides>
  <Notes>5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10" baseType="lpstr">
      <vt:lpstr>Arial</vt:lpstr>
      <vt:lpstr>Open Sans</vt:lpstr>
      <vt:lpstr>Open Sans Light</vt:lpstr>
      <vt:lpstr>Rokkitt</vt:lpstr>
      <vt:lpstr>Simple Light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Emphatic structures</dc:title>
  <dc:creator>Louise Manicolo</dc:creator>
  <cp:lastModifiedBy>Kwiatkowski, Cezary</cp:lastModifiedBy>
  <cp:revision>391</cp:revision>
  <dcterms:modified xsi:type="dcterms:W3CDTF">2020-08-27T07:33:36Z</dcterms:modified>
</cp:coreProperties>
</file>