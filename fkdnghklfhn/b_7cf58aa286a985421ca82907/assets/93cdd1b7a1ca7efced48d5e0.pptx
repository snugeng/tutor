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7"/>
  </p:notesMasterIdLst>
  <p:sldIdLst>
    <p:sldId id="313" r:id="rId2"/>
    <p:sldId id="258" r:id="rId3"/>
    <p:sldId id="295" r:id="rId4"/>
    <p:sldId id="306" r:id="rId5"/>
    <p:sldId id="272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36">
          <p15:clr>
            <a:srgbClr val="A4A3A4"/>
          </p15:clr>
        </p15:guide>
        <p15:guide id="2" orient="horz" pos="3453">
          <p15:clr>
            <a:srgbClr val="A4A3A4"/>
          </p15:clr>
        </p15:guide>
        <p15:guide id="3" pos="1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3924" autoAdjust="0"/>
  </p:normalViewPr>
  <p:slideViewPr>
    <p:cSldViewPr snapToGrid="0">
      <p:cViewPr varScale="1">
        <p:scale>
          <a:sx n="124" d="100"/>
          <a:sy n="124" d="100"/>
        </p:scale>
        <p:origin x="288" y="102"/>
      </p:cViewPr>
      <p:guideLst>
        <p:guide pos="1436"/>
        <p:guide orient="horz" pos="3453"/>
        <p:guide pos="179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BA0651ED-2BFB-43BC-B35E-68E6FF5E4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123D018-35EA-4EE0-9CFD-DEE11940E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994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4DF744F8-3A98-4E15-9980-D3673E7B163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437B4BFE-A93C-4334-AC25-8455D59636B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90F58075-7CC0-4F40-B1DB-538AC5512D5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466832FC-4E91-4D79-B383-2242ECF012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FE6EAEA4-AF57-4937-9F84-2F12A8C53E3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E24BC4B9-5441-4E5A-BE0F-9194155D2F2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284">
            <a:extLst>
              <a:ext uri="{FF2B5EF4-FFF2-40B4-BE49-F238E27FC236}">
                <a16:creationId xmlns:a16="http://schemas.microsoft.com/office/drawing/2014/main" id="{AD886686-FD7A-4070-9342-8BF7326CEB4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285">
            <a:extLst>
              <a:ext uri="{FF2B5EF4-FFF2-40B4-BE49-F238E27FC236}">
                <a16:creationId xmlns:a16="http://schemas.microsoft.com/office/drawing/2014/main" id="{4739A288-80B3-49A9-8F85-49C9BB7FC3C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E40C2011-0681-4840-A0C9-CD261D0608D8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4512E44F-13A7-405B-AE61-2E45DB8FC0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88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34EC5E2B-6AC6-4ED2-BBBC-A59F5AC503B5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DA54D354-FFF7-456E-B9E0-BCA03603BD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70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B976C3F0-4108-4CB6-A787-54CB0F55B212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D7DBE713-EB35-44C8-8609-EB7F54B839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68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ED83097B-5377-4F0E-A9CF-2EFFE0C8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534E696E-1776-4DBC-92E3-08757CB1FE73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429DF5DE-F840-4F8E-A2C4-7BD7EA8AC2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008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D0F6C6CE-0652-4C71-AF51-C2FA0E543ECE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40514860-13D3-48A7-BB7E-C188BFB2AD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68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D2D21A4C-4176-447B-AFC7-2EE8B3839E8F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7EF40D23-42D1-4CBC-83AA-25415941A5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21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1AF06E44-57CC-4FFA-A192-BD7026D13030}"/>
              </a:ext>
            </a:extLst>
          </p:cNvPr>
          <p:cNvSpPr txBox="1">
            <a:spLocks noGrp="1" noChangeArrowheads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77"/>
              </a:defRPr>
            </a:lvl1pPr>
          </a:lstStyle>
          <a:p>
            <a:pPr>
              <a:defRPr/>
            </a:pPr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9256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16309103-5D56-4971-BEDC-7D679F533AB2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2998F5F4-539C-495E-91FA-05EB969EBE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97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41BDB034-ACFA-437B-8211-52363DD1C09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6ECBC44A-8563-45A7-90BD-C6C82080677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BB449ACB-4B38-441A-9EC5-514354460CC8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E4ADC159-1511-48DD-9321-2925F4875A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6E7CEF0-5FC8-5048-B4BC-1058EAE9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58"/>
          <p:cNvSpPr txBox="1">
            <a:spLocks/>
          </p:cNvSpPr>
          <p:nvPr/>
        </p:nvSpPr>
        <p:spPr>
          <a:xfrm>
            <a:off x="2581275" y="4720761"/>
            <a:ext cx="10029825" cy="91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b="1" i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6600" b="1" i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</a:t>
            </a:r>
          </a:p>
        </p:txBody>
      </p:sp>
      <p:sp>
        <p:nvSpPr>
          <p:cNvPr id="8" name="Shape 58"/>
          <p:cNvSpPr txBox="1">
            <a:spLocks/>
          </p:cNvSpPr>
          <p:nvPr/>
        </p:nvSpPr>
        <p:spPr>
          <a:xfrm>
            <a:off x="1127014" y="4565594"/>
            <a:ext cx="2203725" cy="124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2.4</a:t>
            </a:r>
            <a:r>
              <a:rPr lang="pl-PL" sz="80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53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2B7062E2-5957-43A6-A0FA-EB9BFAC512CD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</a:t>
            </a:r>
            <a:r>
              <a:rPr lang="pl-PL" i="1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used</a:t>
            </a:r>
            <a:r>
              <a:rPr lang="pl-PL" i="1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to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?</a:t>
            </a:r>
            <a:endParaRPr lang="pl-PL" i="1" kern="0" dirty="0">
              <a:solidFill>
                <a:schemeClr val="tx1">
                  <a:lumMod val="75000"/>
                  <a:lumOff val="25000"/>
                </a:schemeClr>
              </a:solidFill>
              <a:sym typeface="Open Sans"/>
            </a:endParaRP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E6D5F768-4D30-4E69-B33B-EAE2F243B12F}"/>
              </a:ext>
            </a:extLst>
          </p:cNvPr>
          <p:cNvSpPr/>
          <p:nvPr/>
        </p:nvSpPr>
        <p:spPr>
          <a:xfrm>
            <a:off x="3233738" y="3130550"/>
            <a:ext cx="7181850" cy="915988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 the past,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be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 farm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we’re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standing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223E8F76-C226-4CED-B8DA-30E34A065D97}"/>
              </a:ext>
            </a:extLst>
          </p:cNvPr>
          <p:cNvSpPr/>
          <p:nvPr/>
        </p:nvSpPr>
        <p:spPr>
          <a:xfrm>
            <a:off x="3233738" y="4237038"/>
            <a:ext cx="7181850" cy="684212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People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leave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rubbish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everywhere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61493E78-827D-4D89-8055-4B7024FB1F72}"/>
              </a:ext>
            </a:extLst>
          </p:cNvPr>
          <p:cNvSpPr/>
          <p:nvPr/>
        </p:nvSpPr>
        <p:spPr>
          <a:xfrm>
            <a:off x="3233738" y="5106988"/>
            <a:ext cx="7181850" cy="890587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parents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teenagers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EA972CA2-AB58-498E-A2A1-AFBE2815CFD2}"/>
              </a:ext>
            </a:extLst>
          </p:cNvPr>
          <p:cNvSpPr/>
          <p:nvPr/>
        </p:nvSpPr>
        <p:spPr>
          <a:xfrm>
            <a:off x="2074863" y="1579563"/>
            <a:ext cx="9772650" cy="1211262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repeated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past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no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longer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happen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things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true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past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true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40C3134B-E163-4B43-ACD0-B93511DFBD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3320" name="Obraz 11">
            <a:extLst>
              <a:ext uri="{FF2B5EF4-FFF2-40B4-BE49-F238E27FC236}">
                <a16:creationId xmlns:a16="http://schemas.microsoft.com/office/drawing/2014/main" id="{70D8E6ED-A23E-488D-92D6-8F1B61EF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1579563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8F16E227-5FD5-4E34-A07E-CBBB7F921EAC}"/>
              </a:ext>
            </a:extLst>
          </p:cNvPr>
          <p:cNvSpPr/>
          <p:nvPr/>
        </p:nvSpPr>
        <p:spPr>
          <a:xfrm>
            <a:off x="2203450" y="5130800"/>
            <a:ext cx="7727950" cy="874713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five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Look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</a:t>
            </a:r>
            <a:endParaRPr lang="en-US" i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95D33C30-2E1A-46F2-AA33-7F6E42444D2D}"/>
              </a:ext>
            </a:extLst>
          </p:cNvPr>
          <p:cNvSpPr/>
          <p:nvPr/>
        </p:nvSpPr>
        <p:spPr>
          <a:xfrm>
            <a:off x="2260600" y="350838"/>
            <a:ext cx="7727950" cy="1209675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Read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86369E65-DE91-4A9D-9303-32783FCE3711}"/>
              </a:ext>
            </a:extLst>
          </p:cNvPr>
          <p:cNvSpPr/>
          <p:nvPr/>
        </p:nvSpPr>
        <p:spPr>
          <a:xfrm>
            <a:off x="2178050" y="1812925"/>
            <a:ext cx="7727950" cy="3141663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people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get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their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food in the past?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buy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from small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shops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markets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a lot of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people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lived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countryside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produce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their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own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Food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plastic,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people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didn’t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throw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away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much of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their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food.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days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the waste of food and plastic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caused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by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our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food shopping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habits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big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problems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CF37BB6E-80A6-480D-A58A-7AA8F940372E}"/>
              </a:ext>
            </a:extLst>
          </p:cNvPr>
          <p:cNvCxnSpPr>
            <a:cxnSpLocks/>
          </p:cNvCxnSpPr>
          <p:nvPr/>
        </p:nvCxnSpPr>
        <p:spPr>
          <a:xfrm flipH="1">
            <a:off x="3380034" y="2268538"/>
            <a:ext cx="289004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Footer Placeholder 1">
            <a:extLst>
              <a:ext uri="{FF2B5EF4-FFF2-40B4-BE49-F238E27FC236}">
                <a16:creationId xmlns:a16="http://schemas.microsoft.com/office/drawing/2014/main" id="{1BE54AD3-90A5-4ACF-99E5-DE602FFD66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5367" name="Obraz 11">
            <a:extLst>
              <a:ext uri="{FF2B5EF4-FFF2-40B4-BE49-F238E27FC236}">
                <a16:creationId xmlns:a16="http://schemas.microsoft.com/office/drawing/2014/main" id="{CFE0EAB4-1C47-471C-8E89-55B621F1C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3508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braz 11">
            <a:extLst>
              <a:ext uri="{FF2B5EF4-FFF2-40B4-BE49-F238E27FC236}">
                <a16:creationId xmlns:a16="http://schemas.microsoft.com/office/drawing/2014/main" id="{6F4076FC-5D25-4B87-B981-DDBBFF178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4962525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Obraz 6">
            <a:extLst>
              <a:ext uri="{FF2B5EF4-FFF2-40B4-BE49-F238E27FC236}">
                <a16:creationId xmlns:a16="http://schemas.microsoft.com/office/drawing/2014/main" id="{6D85A105-C434-4749-8632-B9C5C07A9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288" y="2209800"/>
            <a:ext cx="12334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Łącznik prosty 15">
            <a:extLst>
              <a:ext uri="{FF2B5EF4-FFF2-40B4-BE49-F238E27FC236}">
                <a16:creationId xmlns:a16="http://schemas.microsoft.com/office/drawing/2014/main" id="{B1FB3A58-869D-4CCC-A876-48A2A56593AB}"/>
              </a:ext>
            </a:extLst>
          </p:cNvPr>
          <p:cNvCxnSpPr>
            <a:cxnSpLocks/>
          </p:cNvCxnSpPr>
          <p:nvPr/>
        </p:nvCxnSpPr>
        <p:spPr>
          <a:xfrm flipH="1">
            <a:off x="3156430" y="2628105"/>
            <a:ext cx="159702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BF5A86F4-9D14-466A-ACFC-698CE3F82014}"/>
              </a:ext>
            </a:extLst>
          </p:cNvPr>
          <p:cNvCxnSpPr>
            <a:cxnSpLocks/>
          </p:cNvCxnSpPr>
          <p:nvPr/>
        </p:nvCxnSpPr>
        <p:spPr>
          <a:xfrm flipH="1">
            <a:off x="8946357" y="3000685"/>
            <a:ext cx="62580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5">
            <a:extLst>
              <a:ext uri="{FF2B5EF4-FFF2-40B4-BE49-F238E27FC236}">
                <a16:creationId xmlns:a16="http://schemas.microsoft.com/office/drawing/2014/main" id="{1A8F02C9-C027-4148-AFBB-5FFD3A4D158A}"/>
              </a:ext>
            </a:extLst>
          </p:cNvPr>
          <p:cNvCxnSpPr>
            <a:cxnSpLocks/>
          </p:cNvCxnSpPr>
          <p:nvPr/>
        </p:nvCxnSpPr>
        <p:spPr>
          <a:xfrm flipH="1">
            <a:off x="6184901" y="3371671"/>
            <a:ext cx="253206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805C1B2A-8772-462E-881C-C4AEE798474D}"/>
              </a:ext>
            </a:extLst>
          </p:cNvPr>
          <p:cNvCxnSpPr>
            <a:cxnSpLocks/>
          </p:cNvCxnSpPr>
          <p:nvPr/>
        </p:nvCxnSpPr>
        <p:spPr>
          <a:xfrm flipH="1">
            <a:off x="5044528" y="3727450"/>
            <a:ext cx="331708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5">
            <a:extLst>
              <a:ext uri="{FF2B5EF4-FFF2-40B4-BE49-F238E27FC236}">
                <a16:creationId xmlns:a16="http://schemas.microsoft.com/office/drawing/2014/main" id="{591B3DA0-136E-40D9-8BFF-8D6F5FBFF0BB}"/>
              </a:ext>
            </a:extLst>
          </p:cNvPr>
          <p:cNvCxnSpPr>
            <a:cxnSpLocks/>
          </p:cNvCxnSpPr>
          <p:nvPr/>
        </p:nvCxnSpPr>
        <p:spPr>
          <a:xfrm flipH="1">
            <a:off x="2425820" y="3371671"/>
            <a:ext cx="148502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81">
            <a:extLst>
              <a:ext uri="{FF2B5EF4-FFF2-40B4-BE49-F238E27FC236}">
                <a16:creationId xmlns:a16="http://schemas.microsoft.com/office/drawing/2014/main" id="{BDEFA3E0-1D31-4698-B402-081349FAF718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sentences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with </a:t>
            </a:r>
            <a:r>
              <a:rPr lang="pl-PL" sz="4400" b="1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used</a:t>
            </a:r>
            <a:r>
              <a:rPr lang="pl-PL" sz="44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to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17411" name="Footer Placeholder 1">
            <a:extLst>
              <a:ext uri="{FF2B5EF4-FFF2-40B4-BE49-F238E27FC236}">
                <a16:creationId xmlns:a16="http://schemas.microsoft.com/office/drawing/2014/main" id="{47A26462-9366-4013-9838-7444D714BD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52" name="Zaokrąglony prostokąt 2">
            <a:extLst>
              <a:ext uri="{FF2B5EF4-FFF2-40B4-BE49-F238E27FC236}">
                <a16:creationId xmlns:a16="http://schemas.microsoft.com/office/drawing/2014/main" id="{7EBA2F43-163D-4B2B-BD77-67466AF64B07}"/>
              </a:ext>
            </a:extLst>
          </p:cNvPr>
          <p:cNvSpPr/>
          <p:nvPr/>
        </p:nvSpPr>
        <p:spPr>
          <a:xfrm>
            <a:off x="1522413" y="3197225"/>
            <a:ext cx="6765925" cy="114458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78D59E5F-E68C-47BF-BB18-AC8491A8E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755203"/>
              </p:ext>
            </p:extLst>
          </p:nvPr>
        </p:nvGraphicFramePr>
        <p:xfrm>
          <a:off x="1522413" y="1590675"/>
          <a:ext cx="6765925" cy="2200275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1389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841">
                <a:tc>
                  <a:txBody>
                    <a:bodyPr/>
                    <a:lstStyle/>
                    <a:p>
                      <a:pPr lvl="3"/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157">
                <a:tc rowSpan="2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Affirmative</a:t>
                      </a: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57">
                <a:tc vMerge="1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509">
                <a:tc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Negative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551">
                <a:tc rowSpan="2"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Questions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3" marR="91433" marT="45744" marB="45744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060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3" marR="91433" marT="45744" marB="45744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" name="Rectangle 4">
            <a:extLst>
              <a:ext uri="{FF2B5EF4-FFF2-40B4-BE49-F238E27FC236}">
                <a16:creationId xmlns:a16="http://schemas.microsoft.com/office/drawing/2014/main" id="{6672CCB6-D4E3-436E-AEFB-1163D0D063DA}"/>
              </a:ext>
            </a:extLst>
          </p:cNvPr>
          <p:cNvSpPr/>
          <p:nvPr/>
        </p:nvSpPr>
        <p:spPr>
          <a:xfrm>
            <a:off x="2902752" y="3081339"/>
            <a:ext cx="3178175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Did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he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to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have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 dog?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7" name="Rectangle 5">
            <a:extLst>
              <a:ext uri="{FF2B5EF4-FFF2-40B4-BE49-F238E27FC236}">
                <a16:creationId xmlns:a16="http://schemas.microsoft.com/office/drawing/2014/main" id="{77D12053-E1DB-429A-B2DA-FCA1527AB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752" y="1970085"/>
            <a:ext cx="5578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We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used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to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stay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with my gran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every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summer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holiday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58" name="Pięciokąt 29">
            <a:extLst>
              <a:ext uri="{FF2B5EF4-FFF2-40B4-BE49-F238E27FC236}">
                <a16:creationId xmlns:a16="http://schemas.microsoft.com/office/drawing/2014/main" id="{B708D35F-7BA9-4121-A295-06DD24DC54FB}"/>
              </a:ext>
            </a:extLst>
          </p:cNvPr>
          <p:cNvSpPr/>
          <p:nvPr/>
        </p:nvSpPr>
        <p:spPr>
          <a:xfrm>
            <a:off x="1522413" y="1590675"/>
            <a:ext cx="1916112" cy="338138"/>
          </a:xfrm>
          <a:prstGeom prst="homePlate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i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used</a:t>
            </a:r>
            <a:r>
              <a:rPr lang="pl-PL" sz="1600" b="1" i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 to</a:t>
            </a:r>
            <a:endParaRPr lang="en-GB" sz="1600" b="1" i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B3EDA3AD-5684-4208-8B6D-A4995D16C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752" y="2344735"/>
            <a:ext cx="66675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used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to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have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long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hair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, but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it’s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quite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short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now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2" name="Rectangle 5">
            <a:extLst>
              <a:ext uri="{FF2B5EF4-FFF2-40B4-BE49-F238E27FC236}">
                <a16:creationId xmlns:a16="http://schemas.microsoft.com/office/drawing/2014/main" id="{E9E38F57-FAE9-4E0D-A74F-01D8629C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752" y="3455988"/>
            <a:ext cx="34210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Yes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,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did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7778740E-76C1-4A29-A4B4-EA4D4C1BF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4638" y="3455988"/>
            <a:ext cx="3790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No, he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didn’t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D1E9DB81-219C-4A5A-9913-12B379881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752" y="2711450"/>
            <a:ext cx="5321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lvl="3"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didn’t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use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to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play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basketball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when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I was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younger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 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5" name="Cloud 64">
            <a:extLst>
              <a:ext uri="{FF2B5EF4-FFF2-40B4-BE49-F238E27FC236}">
                <a16:creationId xmlns:a16="http://schemas.microsoft.com/office/drawing/2014/main" id="{16353CC4-5A27-48DF-AF81-1E4C80D3B307}"/>
              </a:ext>
            </a:extLst>
          </p:cNvPr>
          <p:cNvSpPr/>
          <p:nvPr/>
        </p:nvSpPr>
        <p:spPr>
          <a:xfrm>
            <a:off x="313531" y="4209693"/>
            <a:ext cx="3724275" cy="178435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FA33F8-2143-4626-BABF-23FE695A2744}"/>
              </a:ext>
            </a:extLst>
          </p:cNvPr>
          <p:cNvSpPr txBox="1"/>
          <p:nvPr/>
        </p:nvSpPr>
        <p:spPr>
          <a:xfrm>
            <a:off x="678656" y="4566060"/>
            <a:ext cx="299402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use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talk about actions that happened regularly in the past, but don’t happen anymore.</a:t>
            </a:r>
          </a:p>
        </p:txBody>
      </p:sp>
      <p:sp>
        <p:nvSpPr>
          <p:cNvPr id="67" name="Cloud 66">
            <a:extLst>
              <a:ext uri="{FF2B5EF4-FFF2-40B4-BE49-F238E27FC236}">
                <a16:creationId xmlns:a16="http://schemas.microsoft.com/office/drawing/2014/main" id="{87B80E77-40CB-4CB4-844E-496630A5A282}"/>
              </a:ext>
            </a:extLst>
          </p:cNvPr>
          <p:cNvSpPr/>
          <p:nvPr/>
        </p:nvSpPr>
        <p:spPr>
          <a:xfrm>
            <a:off x="3802063" y="4127706"/>
            <a:ext cx="3275012" cy="15462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CC5B08-6731-4CD7-98DF-6DC7108F2A18}"/>
              </a:ext>
            </a:extLst>
          </p:cNvPr>
          <p:cNvSpPr txBox="1"/>
          <p:nvPr/>
        </p:nvSpPr>
        <p:spPr>
          <a:xfrm>
            <a:off x="3979427" y="4362656"/>
            <a:ext cx="2994025" cy="1076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also use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talk about things that were true in the past, but aren’t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true now.</a:t>
            </a:r>
          </a:p>
        </p:txBody>
      </p:sp>
      <p:sp>
        <p:nvSpPr>
          <p:cNvPr id="69" name="Cloud 68">
            <a:extLst>
              <a:ext uri="{FF2B5EF4-FFF2-40B4-BE49-F238E27FC236}">
                <a16:creationId xmlns:a16="http://schemas.microsoft.com/office/drawing/2014/main" id="{8723BFC0-BDBD-43E8-9BDA-D7A16E2562A3}"/>
              </a:ext>
            </a:extLst>
          </p:cNvPr>
          <p:cNvSpPr/>
          <p:nvPr/>
        </p:nvSpPr>
        <p:spPr>
          <a:xfrm>
            <a:off x="7985125" y="1198563"/>
            <a:ext cx="4030663" cy="2455862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Cloud 70">
            <a:extLst>
              <a:ext uri="{FF2B5EF4-FFF2-40B4-BE49-F238E27FC236}">
                <a16:creationId xmlns:a16="http://schemas.microsoft.com/office/drawing/2014/main" id="{69E2F87A-9539-479A-BE01-DC5AF05014B9}"/>
              </a:ext>
            </a:extLst>
          </p:cNvPr>
          <p:cNvSpPr/>
          <p:nvPr/>
        </p:nvSpPr>
        <p:spPr>
          <a:xfrm>
            <a:off x="4260850" y="5449991"/>
            <a:ext cx="3724275" cy="896937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A95B1D-21A0-4A72-B4DC-9F45EE9E2772}"/>
              </a:ext>
            </a:extLst>
          </p:cNvPr>
          <p:cNvSpPr txBox="1"/>
          <p:nvPr/>
        </p:nvSpPr>
        <p:spPr>
          <a:xfrm>
            <a:off x="4523581" y="5605565"/>
            <a:ext cx="3198812" cy="585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negative and question form, we drop the </a:t>
            </a: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73" name="Cloud 72">
            <a:extLst>
              <a:ext uri="{FF2B5EF4-FFF2-40B4-BE49-F238E27FC236}">
                <a16:creationId xmlns:a16="http://schemas.microsoft.com/office/drawing/2014/main" id="{9BFBDC93-48D1-4122-911F-1DE59826795A}"/>
              </a:ext>
            </a:extLst>
          </p:cNvPr>
          <p:cNvSpPr/>
          <p:nvPr/>
        </p:nvSpPr>
        <p:spPr>
          <a:xfrm>
            <a:off x="7551738" y="3530515"/>
            <a:ext cx="4464050" cy="249555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26509CB-6485-4B7C-93FF-E4172355D9EB}"/>
              </a:ext>
            </a:extLst>
          </p:cNvPr>
          <p:cNvSpPr txBox="1"/>
          <p:nvPr/>
        </p:nvSpPr>
        <p:spPr>
          <a:xfrm>
            <a:off x="7932404" y="3831401"/>
            <a:ext cx="3803650" cy="206210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 use both the Past Simple and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 to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describe regular actions in the past.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</a:t>
            </a:r>
            <a:r>
              <a:rPr lang="pl-PL" altLang="en-US" sz="1600" b="1" i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altLang="en-US" sz="1600" b="1" i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to go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holiday to Brazil every year. </a:t>
            </a:r>
            <a:b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</a:t>
            </a:r>
            <a:r>
              <a:rPr lang="pl-PL" altLang="en-US" sz="1600" b="1" i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went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holiday to Brazil </a:t>
            </a:r>
            <a:endParaRPr lang="pl-PL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year.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C19F6-BD5B-491E-8409-76A6707567D8}"/>
              </a:ext>
            </a:extLst>
          </p:cNvPr>
          <p:cNvSpPr txBox="1"/>
          <p:nvPr/>
        </p:nvSpPr>
        <p:spPr>
          <a:xfrm>
            <a:off x="8376444" y="1561517"/>
            <a:ext cx="3344862" cy="18158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’t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talk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about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things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happened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once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We </a:t>
            </a:r>
            <a:r>
              <a:rPr lang="pl-PL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Past Simple.</a:t>
            </a:r>
          </a:p>
          <a:p>
            <a:pPr algn="ctr">
              <a:defRPr/>
            </a:pPr>
            <a:r>
              <a:rPr lang="en-GB" sz="1600" i="1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</a:t>
            </a:r>
            <a:r>
              <a:rPr lang="pl-PL" altLang="en-US" sz="1600" b="1" i="1" strike="sngStrike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altLang="en-US" sz="1600" b="1" i="1" strike="sngStrike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to go </a:t>
            </a:r>
            <a:r>
              <a:rPr lang="en-GB" sz="1600" i="1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holiday to Brazil </a:t>
            </a:r>
            <a:r>
              <a:rPr lang="pl-PL" sz="1600" i="1" strike="sng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last</a:t>
            </a:r>
            <a:r>
              <a:rPr lang="en-GB" sz="1600" i="1" strike="sngStrik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year.</a:t>
            </a:r>
            <a:endParaRPr lang="en-GB" sz="1600" strike="sngStrike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</a:t>
            </a:r>
            <a:r>
              <a:rPr lang="pl-PL" altLang="en-US" sz="1600" b="1" i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went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holiday to Brazil </a:t>
            </a:r>
            <a:endParaRPr lang="pl-PL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defRPr/>
            </a:pP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last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year.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/>
      <p:bldP spid="59" grpId="0"/>
      <p:bldP spid="62" grpId="0"/>
      <p:bldP spid="63" grpId="0"/>
      <p:bldP spid="64" grpId="0"/>
      <p:bldP spid="66" grpId="0"/>
      <p:bldP spid="68" grpId="0"/>
      <p:bldP spid="72" grpId="0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32B432-95CB-4553-A138-2C218F01960B}"/>
              </a:ext>
            </a:extLst>
          </p:cNvPr>
          <p:cNvSpPr txBox="1"/>
          <p:nvPr/>
        </p:nvSpPr>
        <p:spPr>
          <a:xfrm>
            <a:off x="201612" y="1679575"/>
            <a:ext cx="11684000" cy="439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300000"/>
              </a:lnSpc>
              <a:tabLst>
                <a:tab pos="1431925" algn="l"/>
              </a:tabLst>
              <a:defRPr/>
            </a:pP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Teacher: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 you know that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(go) to this school?</a:t>
            </a:r>
          </a:p>
          <a:p>
            <a:pPr>
              <a:lnSpc>
                <a:spcPct val="300000"/>
              </a:lnSpc>
              <a:tabLst>
                <a:tab pos="1431925" algn="l"/>
              </a:tabLst>
              <a:defRPr/>
            </a:pP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Student: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No, really? What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(it / be) like?</a:t>
            </a:r>
          </a:p>
          <a:p>
            <a:pPr marL="1431925" indent="-1431925">
              <a:lnSpc>
                <a:spcPct val="300000"/>
              </a:lnSpc>
              <a:tabLst>
                <a:tab pos="1431925" algn="l"/>
              </a:tabLst>
              <a:defRPr/>
            </a:pP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Teacher: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(be) much smaller. Not so many people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(live) in the town. We all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(walk) to school every day. Families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 (not have) cars, so there was less traffic and less pollution!</a:t>
            </a:r>
            <a:b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b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Shape 82">
            <a:extLst>
              <a:ext uri="{FF2B5EF4-FFF2-40B4-BE49-F238E27FC236}">
                <a16:creationId xmlns:a16="http://schemas.microsoft.com/office/drawing/2014/main" id="{0EB466F0-A782-40FE-96EB-AA999AE55FC8}"/>
              </a:ext>
            </a:extLst>
          </p:cNvPr>
          <p:cNvSpPr txBox="1">
            <a:spLocks/>
          </p:cNvSpPr>
          <p:nvPr/>
        </p:nvSpPr>
        <p:spPr>
          <a:xfrm>
            <a:off x="1654016" y="922338"/>
            <a:ext cx="6757988" cy="8429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lnSpc>
                <a:spcPts val="2600"/>
              </a:lnSpc>
              <a:spcAft>
                <a:spcPts val="0"/>
              </a:spcAft>
              <a:buClr>
                <a:srgbClr val="9E3611"/>
              </a:buClr>
              <a:buSzPct val="25000"/>
              <a:buFontTx/>
              <a:buNone/>
              <a:defRPr/>
            </a:pP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Complete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dialogue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with </a:t>
            </a:r>
            <a:r>
              <a:rPr lang="pl-PL" sz="2000" b="1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used</a:t>
            </a:r>
            <a:r>
              <a:rPr lang="pl-PL" sz="2000" b="1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to 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and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correct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form of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verbs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in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brackets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  <a:endParaRPr lang="en-US" sz="2000" b="1" kern="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4215B5-1EBE-40C7-8182-F33010EBBCCE}"/>
              </a:ext>
            </a:extLst>
          </p:cNvPr>
          <p:cNvSpPr/>
          <p:nvPr/>
        </p:nvSpPr>
        <p:spPr>
          <a:xfrm>
            <a:off x="3603624" y="2739549"/>
            <a:ext cx="1657350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did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it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use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be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55BA1ECC-6E98-4127-8B65-037BBFC5BBFC}"/>
              </a:ext>
            </a:extLst>
          </p:cNvPr>
          <p:cNvSpPr/>
          <p:nvPr/>
        </p:nvSpPr>
        <p:spPr>
          <a:xfrm>
            <a:off x="2376329" y="3469009"/>
            <a:ext cx="119062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used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be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5C0B9EDB-58D3-4BC5-9CDD-34E12AE3FC35}"/>
              </a:ext>
            </a:extLst>
          </p:cNvPr>
          <p:cNvSpPr/>
          <p:nvPr/>
        </p:nvSpPr>
        <p:spPr>
          <a:xfrm>
            <a:off x="8095457" y="3469009"/>
            <a:ext cx="1271587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used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live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87DF4460-BC42-49B5-B420-6CD1E0A56773}"/>
              </a:ext>
            </a:extLst>
          </p:cNvPr>
          <p:cNvSpPr/>
          <p:nvPr/>
        </p:nvSpPr>
        <p:spPr>
          <a:xfrm>
            <a:off x="2376329" y="4198468"/>
            <a:ext cx="1382712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used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walk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4EDDDEB0-9126-40D1-AB68-DDB459ED3736}"/>
              </a:ext>
            </a:extLst>
          </p:cNvPr>
          <p:cNvSpPr/>
          <p:nvPr/>
        </p:nvSpPr>
        <p:spPr>
          <a:xfrm>
            <a:off x="7539513" y="4198469"/>
            <a:ext cx="1871663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didn’t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use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have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9B802113-5F49-42CB-A13D-4C2EE2FA68AE}"/>
              </a:ext>
            </a:extLst>
          </p:cNvPr>
          <p:cNvSpPr txBox="1">
            <a:spLocks/>
          </p:cNvSpPr>
          <p:nvPr/>
        </p:nvSpPr>
        <p:spPr>
          <a:xfrm>
            <a:off x="1654016" y="233363"/>
            <a:ext cx="10142538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sp>
        <p:nvSpPr>
          <p:cNvPr id="19466" name="Footer Placeholder 1">
            <a:extLst>
              <a:ext uri="{FF2B5EF4-FFF2-40B4-BE49-F238E27FC236}">
                <a16:creationId xmlns:a16="http://schemas.microsoft.com/office/drawing/2014/main" id="{64FE9BD3-7653-4152-B429-B55DFFB1E93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9467" name="Obraz 11">
            <a:extLst>
              <a:ext uri="{FF2B5EF4-FFF2-40B4-BE49-F238E27FC236}">
                <a16:creationId xmlns:a16="http://schemas.microsoft.com/office/drawing/2014/main" id="{BD7653FB-E027-4EDA-A5BA-F35A117DB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9" y="323850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2">
            <a:extLst>
              <a:ext uri="{FF2B5EF4-FFF2-40B4-BE49-F238E27FC236}">
                <a16:creationId xmlns:a16="http://schemas.microsoft.com/office/drawing/2014/main" id="{1CF2627D-2BCB-43BB-9D23-2C321EBF7B33}"/>
              </a:ext>
            </a:extLst>
          </p:cNvPr>
          <p:cNvSpPr/>
          <p:nvPr/>
        </p:nvSpPr>
        <p:spPr>
          <a:xfrm>
            <a:off x="4071937" y="2010090"/>
            <a:ext cx="12382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altLang="en-US" sz="1600" b="1" dirty="0" err="1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used</a:t>
            </a:r>
            <a:r>
              <a:rPr lang="pl-PL" altLang="en-US" sz="1600" b="1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to go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5996</TotalTime>
  <Words>546</Words>
  <Application>Microsoft Office PowerPoint</Application>
  <PresentationFormat>Panoramiczny</PresentationFormat>
  <Paragraphs>48</Paragraphs>
  <Slides>5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0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401</cp:revision>
  <dcterms:modified xsi:type="dcterms:W3CDTF">2021-02-17T13:27:33Z</dcterms:modified>
</cp:coreProperties>
</file>