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8"/>
  </p:notesMasterIdLst>
  <p:sldIdLst>
    <p:sldId id="314" r:id="rId2"/>
    <p:sldId id="258" r:id="rId3"/>
    <p:sldId id="295" r:id="rId4"/>
    <p:sldId id="300" r:id="rId5"/>
    <p:sldId id="313" r:id="rId6"/>
    <p:sldId id="272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640" userDrawn="1">
          <p15:clr>
            <a:srgbClr val="A4A3A4"/>
          </p15:clr>
        </p15:guide>
        <p15:guide id="2" orient="horz" pos="2994" userDrawn="1">
          <p15:clr>
            <a:srgbClr val="A4A3A4"/>
          </p15:clr>
        </p15:guide>
        <p15:guide id="3" pos="35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ena Juszko" initials="A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A2CA1F-3267-4498-8071-7EE1E42671EB}">
  <a:tblStyle styleId="{C3A2CA1F-3267-4498-8071-7EE1E42671EB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7E8E7"/>
          </a:solidFill>
        </a:fill>
      </a:tcStyle>
    </a:wholeTbl>
    <a:band1H>
      <a:tcStyle>
        <a:tcBdr/>
        <a:fill>
          <a:solidFill>
            <a:srgbClr val="EFCECA"/>
          </a:solidFill>
        </a:fill>
      </a:tcStyle>
    </a:band1H>
    <a:band1V>
      <a:tcStyle>
        <a:tcBdr/>
        <a:fill>
          <a:solidFill>
            <a:srgbClr val="EFCECA"/>
          </a:solidFill>
        </a:fill>
      </a:tcStyle>
    </a:band1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02" autoAdjust="0"/>
    <p:restoredTop sz="93924" autoAdjust="0"/>
  </p:normalViewPr>
  <p:slideViewPr>
    <p:cSldViewPr snapToGrid="0" showGuides="1">
      <p:cViewPr>
        <p:scale>
          <a:sx n="150" d="100"/>
          <a:sy n="150" d="100"/>
        </p:scale>
        <p:origin x="192" y="-1026"/>
      </p:cViewPr>
      <p:guideLst>
        <p:guide pos="1640"/>
        <p:guide orient="horz" pos="2994"/>
        <p:guide pos="35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 3">
            <a:extLst>
              <a:ext uri="{FF2B5EF4-FFF2-40B4-BE49-F238E27FC236}">
                <a16:creationId xmlns:a16="http://schemas.microsoft.com/office/drawing/2014/main" id="{DD6269BD-A49F-49D3-894A-DA52CD784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4964FE1-CD7A-44E4-8571-42767F3643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9949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78">
            <a:extLst>
              <a:ext uri="{FF2B5EF4-FFF2-40B4-BE49-F238E27FC236}">
                <a16:creationId xmlns:a16="http://schemas.microsoft.com/office/drawing/2014/main" id="{77792125-714B-41FF-85CF-03B6FC5631E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4339" name="Shape 79">
            <a:extLst>
              <a:ext uri="{FF2B5EF4-FFF2-40B4-BE49-F238E27FC236}">
                <a16:creationId xmlns:a16="http://schemas.microsoft.com/office/drawing/2014/main" id="{66668B11-A922-4F44-B56B-321A95B316E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78">
            <a:extLst>
              <a:ext uri="{FF2B5EF4-FFF2-40B4-BE49-F238E27FC236}">
                <a16:creationId xmlns:a16="http://schemas.microsoft.com/office/drawing/2014/main" id="{DAE32556-36C8-4EA7-9FF5-118B1B0DD57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6387" name="Shape 79">
            <a:extLst>
              <a:ext uri="{FF2B5EF4-FFF2-40B4-BE49-F238E27FC236}">
                <a16:creationId xmlns:a16="http://schemas.microsoft.com/office/drawing/2014/main" id="{C33CF8C2-4B0C-44D2-BC20-A7A4EEE60BE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78">
            <a:extLst>
              <a:ext uri="{FF2B5EF4-FFF2-40B4-BE49-F238E27FC236}">
                <a16:creationId xmlns:a16="http://schemas.microsoft.com/office/drawing/2014/main" id="{AC9879A8-19E3-402A-9187-01787113389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8435" name="Shape 79">
            <a:extLst>
              <a:ext uri="{FF2B5EF4-FFF2-40B4-BE49-F238E27FC236}">
                <a16:creationId xmlns:a16="http://schemas.microsoft.com/office/drawing/2014/main" id="{EF58229B-9B83-4FC6-8B52-9FB100D8E78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78">
            <a:extLst>
              <a:ext uri="{FF2B5EF4-FFF2-40B4-BE49-F238E27FC236}">
                <a16:creationId xmlns:a16="http://schemas.microsoft.com/office/drawing/2014/main" id="{00485807-B2AC-4BB8-AF92-DA622AC6B63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0483" name="Shape 79">
            <a:extLst>
              <a:ext uri="{FF2B5EF4-FFF2-40B4-BE49-F238E27FC236}">
                <a16:creationId xmlns:a16="http://schemas.microsoft.com/office/drawing/2014/main" id="{13C9BB95-221B-4E74-94AE-22210F5314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 284">
            <a:extLst>
              <a:ext uri="{FF2B5EF4-FFF2-40B4-BE49-F238E27FC236}">
                <a16:creationId xmlns:a16="http://schemas.microsoft.com/office/drawing/2014/main" id="{D808FA70-92D3-4750-A279-CD5A3F0B815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2531" name="Shape 285">
            <a:extLst>
              <a:ext uri="{FF2B5EF4-FFF2-40B4-BE49-F238E27FC236}">
                <a16:creationId xmlns:a16="http://schemas.microsoft.com/office/drawing/2014/main" id="{3A5271E0-E0D5-4514-B2AA-139BD9E4D73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A9528A2C-75BC-473F-A332-A046BA2AB373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93ED6155-A123-48D4-A63C-7D38674C1A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28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="b"/>
          <a:lstStyle>
            <a:lvl1pPr lvl="0">
              <a:spcBef>
                <a:spcPts val="0"/>
              </a:spcBef>
              <a:buSzPct val="100000"/>
              <a:defRPr sz="3200"/>
            </a:lvl1pPr>
            <a:lvl2pPr lvl="1">
              <a:spcBef>
                <a:spcPts val="0"/>
              </a:spcBef>
              <a:buSzPct val="100000"/>
              <a:defRPr sz="3200"/>
            </a:lvl2pPr>
            <a:lvl3pPr lvl="2">
              <a:spcBef>
                <a:spcPts val="0"/>
              </a:spcBef>
              <a:buSzPct val="100000"/>
              <a:defRPr sz="3200"/>
            </a:lvl3pPr>
            <a:lvl4pPr lvl="3">
              <a:spcBef>
                <a:spcPts val="0"/>
              </a:spcBef>
              <a:buSzPct val="100000"/>
              <a:defRPr sz="3200"/>
            </a:lvl4pPr>
            <a:lvl5pPr lvl="4">
              <a:spcBef>
                <a:spcPts val="0"/>
              </a:spcBef>
              <a:buSzPct val="100000"/>
              <a:defRPr sz="3200"/>
            </a:lvl5pPr>
            <a:lvl6pPr lvl="5">
              <a:spcBef>
                <a:spcPts val="0"/>
              </a:spcBef>
              <a:buSzPct val="100000"/>
              <a:defRPr sz="3200"/>
            </a:lvl6pPr>
            <a:lvl7pPr lvl="6">
              <a:spcBef>
                <a:spcPts val="0"/>
              </a:spcBef>
              <a:buSzPct val="100000"/>
              <a:defRPr sz="3200"/>
            </a:lvl7pPr>
            <a:lvl8pPr lvl="7">
              <a:spcBef>
                <a:spcPts val="0"/>
              </a:spcBef>
              <a:buSzPct val="100000"/>
              <a:defRPr sz="3200"/>
            </a:lvl8pPr>
            <a:lvl9pPr lvl="8">
              <a:spcBef>
                <a:spcPts val="0"/>
              </a:spcBef>
              <a:buSzPct val="100000"/>
              <a:defRPr sz="32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6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4" name="Shape 31">
            <a:extLst>
              <a:ext uri="{FF2B5EF4-FFF2-40B4-BE49-F238E27FC236}">
                <a16:creationId xmlns:a16="http://schemas.microsoft.com/office/drawing/2014/main" id="{A0A3D6E2-1BFB-4E9F-8F2D-6DAD88121343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A20B54C8-9E57-4A25-A323-CA1664B9E7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53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53666" y="600200"/>
            <a:ext cx="8490300" cy="54543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  <p:sp>
        <p:nvSpPr>
          <p:cNvPr id="3" name="Shape 34">
            <a:extLst>
              <a:ext uri="{FF2B5EF4-FFF2-40B4-BE49-F238E27FC236}">
                <a16:creationId xmlns:a16="http://schemas.microsoft.com/office/drawing/2014/main" id="{E85FF4F0-F09A-408D-868A-5906D987A401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AC3FFD50-4C2E-4C4D-A990-829EA059C4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488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>
            <a:extLst>
              <a:ext uri="{FF2B5EF4-FFF2-40B4-BE49-F238E27FC236}">
                <a16:creationId xmlns:a16="http://schemas.microsoft.com/office/drawing/2014/main" id="{46ED274D-84BD-4665-BE36-F4304A6D2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5600"/>
            </a:lvl1pPr>
            <a:lvl2pPr lvl="1" algn="ctr">
              <a:spcBef>
                <a:spcPts val="0"/>
              </a:spcBef>
              <a:buSzPct val="100000"/>
              <a:defRPr sz="5600"/>
            </a:lvl2pPr>
            <a:lvl3pPr lvl="2" algn="ctr">
              <a:spcBef>
                <a:spcPts val="0"/>
              </a:spcBef>
              <a:buSzPct val="100000"/>
              <a:defRPr sz="5600"/>
            </a:lvl3pPr>
            <a:lvl4pPr lvl="3" algn="ctr">
              <a:spcBef>
                <a:spcPts val="0"/>
              </a:spcBef>
              <a:buSzPct val="100000"/>
              <a:defRPr sz="5600"/>
            </a:lvl4pPr>
            <a:lvl5pPr lvl="4" algn="ctr">
              <a:spcBef>
                <a:spcPts val="0"/>
              </a:spcBef>
              <a:buSzPct val="100000"/>
              <a:defRPr sz="5600"/>
            </a:lvl5pPr>
            <a:lvl6pPr lvl="5" algn="ctr">
              <a:spcBef>
                <a:spcPts val="0"/>
              </a:spcBef>
              <a:buSzPct val="100000"/>
              <a:defRPr sz="5600"/>
            </a:lvl6pPr>
            <a:lvl7pPr lvl="6" algn="ctr">
              <a:spcBef>
                <a:spcPts val="0"/>
              </a:spcBef>
              <a:buSzPct val="100000"/>
              <a:defRPr sz="5600"/>
            </a:lvl7pPr>
            <a:lvl8pPr lvl="7" algn="ctr">
              <a:spcBef>
                <a:spcPts val="0"/>
              </a:spcBef>
              <a:buSzPct val="100000"/>
              <a:defRPr sz="5600"/>
            </a:lvl8pPr>
            <a:lvl9pPr lvl="8" algn="ctr">
              <a:spcBef>
                <a:spcPts val="0"/>
              </a:spcBef>
              <a:buSzPct val="100000"/>
              <a:defRPr sz="56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40">
            <a:extLst>
              <a:ext uri="{FF2B5EF4-FFF2-40B4-BE49-F238E27FC236}">
                <a16:creationId xmlns:a16="http://schemas.microsoft.com/office/drawing/2014/main" id="{782500B9-E936-46C2-B913-EB73D6C767FD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96D516DF-729F-43DC-A0BE-A6B501814E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70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300" cy="806700"/>
          </a:xfrm>
          <a:prstGeom prst="rect">
            <a:avLst/>
          </a:prstGeom>
        </p:spPr>
        <p:txBody>
          <a:bodyPr anchor="ctr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3" name="Shape 43">
            <a:extLst>
              <a:ext uri="{FF2B5EF4-FFF2-40B4-BE49-F238E27FC236}">
                <a16:creationId xmlns:a16="http://schemas.microsoft.com/office/drawing/2014/main" id="{805922F4-8D94-4A7D-921E-264BF993221A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8310DC74-5FA4-484E-9978-C2AF6868E3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73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16000"/>
            </a:lvl1pPr>
            <a:lvl2pPr lvl="1" algn="ctr">
              <a:spcBef>
                <a:spcPts val="0"/>
              </a:spcBef>
              <a:buSzPct val="100000"/>
              <a:defRPr sz="16000"/>
            </a:lvl2pPr>
            <a:lvl3pPr lvl="2" algn="ctr">
              <a:spcBef>
                <a:spcPts val="0"/>
              </a:spcBef>
              <a:buSzPct val="100000"/>
              <a:defRPr sz="16000"/>
            </a:lvl3pPr>
            <a:lvl4pPr lvl="3" algn="ctr">
              <a:spcBef>
                <a:spcPts val="0"/>
              </a:spcBef>
              <a:buSzPct val="100000"/>
              <a:defRPr sz="16000"/>
            </a:lvl4pPr>
            <a:lvl5pPr lvl="4" algn="ctr">
              <a:spcBef>
                <a:spcPts val="0"/>
              </a:spcBef>
              <a:buSzPct val="100000"/>
              <a:defRPr sz="16000"/>
            </a:lvl5pPr>
            <a:lvl6pPr lvl="5" algn="ctr">
              <a:spcBef>
                <a:spcPts val="0"/>
              </a:spcBef>
              <a:buSzPct val="100000"/>
              <a:defRPr sz="16000"/>
            </a:lvl6pPr>
            <a:lvl7pPr lvl="6" algn="ctr">
              <a:spcBef>
                <a:spcPts val="0"/>
              </a:spcBef>
              <a:buSzPct val="100000"/>
              <a:defRPr sz="16000"/>
            </a:lvl7pPr>
            <a:lvl8pPr lvl="7" algn="ctr">
              <a:spcBef>
                <a:spcPts val="0"/>
              </a:spcBef>
              <a:buSzPct val="100000"/>
              <a:defRPr sz="16000"/>
            </a:lvl8pPr>
            <a:lvl9pPr lvl="8" algn="ctr">
              <a:spcBef>
                <a:spcPts val="0"/>
              </a:spcBef>
              <a:buSzPct val="100000"/>
              <a:defRPr sz="16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300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81C71705-3844-4423-AD4F-394797F11C8D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827398E2-3CBD-4F87-B855-782C050B18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543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4">
            <a:extLst>
              <a:ext uri="{FF2B5EF4-FFF2-40B4-BE49-F238E27FC236}">
                <a16:creationId xmlns:a16="http://schemas.microsoft.com/office/drawing/2014/main" id="{BC13C584-F6E7-4D86-B093-B93C161E4B0C}"/>
              </a:ext>
            </a:extLst>
          </p:cNvPr>
          <p:cNvSpPr txBox="1">
            <a:spLocks noGrp="1" noChangeArrowheads="1"/>
          </p:cNvSpPr>
          <p:nvPr>
            <p:ph type="ftr" idx="10"/>
          </p:nvPr>
        </p:nvSpPr>
        <p:spPr bwMode="auto">
          <a:xfrm>
            <a:off x="274638" y="6343650"/>
            <a:ext cx="6327775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Rockwell" panose="02060603020205020403" pitchFamily="18" charset="77"/>
              </a:defRPr>
            </a:lvl1pPr>
          </a:lstStyle>
          <a:p>
            <a:pPr>
              <a:defRPr/>
            </a:pPr>
            <a:r>
              <a:rPr lang="en-US" altLang="en-US"/>
              <a:t>Pearson  (c) 2018      Gold Experience 2nd Edition C1 / B2+ / B2</a:t>
            </a:r>
          </a:p>
        </p:txBody>
      </p:sp>
    </p:spTree>
    <p:extLst>
      <p:ext uri="{BB962C8B-B14F-4D97-AF65-F5344CB8AC3E}">
        <p14:creationId xmlns:p14="http://schemas.microsoft.com/office/powerpoint/2010/main" val="81600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="ctr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D07274D2-908C-455A-B244-B040B6ADF98E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2B174EFD-2614-47B5-9855-77A0A7D0A4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13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6">
            <a:extLst>
              <a:ext uri="{FF2B5EF4-FFF2-40B4-BE49-F238E27FC236}">
                <a16:creationId xmlns:a16="http://schemas.microsoft.com/office/drawing/2014/main" id="{25C8B5DB-9E94-4D35-8156-07490B781CD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15925" y="593725"/>
            <a:ext cx="1136015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Shape 7">
            <a:extLst>
              <a:ext uri="{FF2B5EF4-FFF2-40B4-BE49-F238E27FC236}">
                <a16:creationId xmlns:a16="http://schemas.microsoft.com/office/drawing/2014/main" id="{9DDC6A2D-B9ED-4509-9F2B-57684B13875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15925" y="1536700"/>
            <a:ext cx="11360150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Shape 8">
            <a:extLst>
              <a:ext uri="{FF2B5EF4-FFF2-40B4-BE49-F238E27FC236}">
                <a16:creationId xmlns:a16="http://schemas.microsoft.com/office/drawing/2014/main" id="{BAC4D2BA-979E-43B0-8C2B-9D3694C735EA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11296650" y="6218238"/>
            <a:ext cx="731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solidFill>
                  <a:srgbClr val="595959"/>
                </a:solidFill>
              </a:defRPr>
            </a:lvl1pPr>
          </a:lstStyle>
          <a:p>
            <a:fld id="{AFFE447C-8BEB-4ECB-80C4-3F2B686E14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A6E7CEF0-5FC8-5048-B4BC-1058EAE9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58"/>
          <p:cNvSpPr txBox="1">
            <a:spLocks/>
          </p:cNvSpPr>
          <p:nvPr/>
        </p:nvSpPr>
        <p:spPr>
          <a:xfrm>
            <a:off x="2438400" y="4317467"/>
            <a:ext cx="10172700" cy="91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Past Simple, Past </a:t>
            </a:r>
            <a:r>
              <a:rPr lang="pl-PL" sz="6000" b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6000" b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b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</a:br>
            <a: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Perfect</a:t>
            </a:r>
          </a:p>
        </p:txBody>
      </p:sp>
      <p:sp>
        <p:nvSpPr>
          <p:cNvPr id="8" name="Shape 58"/>
          <p:cNvSpPr txBox="1">
            <a:spLocks/>
          </p:cNvSpPr>
          <p:nvPr/>
        </p:nvSpPr>
        <p:spPr>
          <a:xfrm>
            <a:off x="1127014" y="4317467"/>
            <a:ext cx="2203725" cy="1242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0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1.4 </a:t>
            </a:r>
          </a:p>
        </p:txBody>
      </p:sp>
    </p:spTree>
    <p:extLst>
      <p:ext uri="{BB962C8B-B14F-4D97-AF65-F5344CB8AC3E}">
        <p14:creationId xmlns:p14="http://schemas.microsoft.com/office/powerpoint/2010/main" val="233353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BFCB">
            <a:alpha val="2941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1">
            <a:extLst>
              <a:ext uri="{FF2B5EF4-FFF2-40B4-BE49-F238E27FC236}">
                <a16:creationId xmlns:a16="http://schemas.microsoft.com/office/drawing/2014/main" id="{543C42C3-1E1E-4F60-9E4D-46C91F23C4EF}"/>
              </a:ext>
            </a:extLst>
          </p:cNvPr>
          <p:cNvSpPr txBox="1">
            <a:spLocks/>
          </p:cNvSpPr>
          <p:nvPr/>
        </p:nvSpPr>
        <p:spPr>
          <a:xfrm>
            <a:off x="211138" y="233363"/>
            <a:ext cx="11636375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When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do we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use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past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tenses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?</a:t>
            </a:r>
          </a:p>
        </p:txBody>
      </p:sp>
      <p:sp>
        <p:nvSpPr>
          <p:cNvPr id="16" name="Rounded Rectangular Callout 41">
            <a:extLst>
              <a:ext uri="{FF2B5EF4-FFF2-40B4-BE49-F238E27FC236}">
                <a16:creationId xmlns:a16="http://schemas.microsoft.com/office/drawing/2014/main" id="{844B32C7-D52D-4F7A-8939-CC422F00A6AD}"/>
              </a:ext>
            </a:extLst>
          </p:cNvPr>
          <p:cNvSpPr/>
          <p:nvPr/>
        </p:nvSpPr>
        <p:spPr>
          <a:xfrm>
            <a:off x="2910840" y="3042837"/>
            <a:ext cx="8465819" cy="632624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was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climbing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mountain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accident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0" name="Rounded Rectangular Callout 41">
            <a:extLst>
              <a:ext uri="{FF2B5EF4-FFF2-40B4-BE49-F238E27FC236}">
                <a16:creationId xmlns:a16="http://schemas.microsoft.com/office/drawing/2014/main" id="{07D7362E-641A-46DE-AC3D-72690A12A9F0}"/>
              </a:ext>
            </a:extLst>
          </p:cNvPr>
          <p:cNvSpPr/>
          <p:nvPr/>
        </p:nvSpPr>
        <p:spPr>
          <a:xfrm>
            <a:off x="2910840" y="3854659"/>
            <a:ext cx="8465819" cy="632624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’ve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cool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places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In 2019, I 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went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India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6" name="Rounded Rectangular Callout 41">
            <a:extLst>
              <a:ext uri="{FF2B5EF4-FFF2-40B4-BE49-F238E27FC236}">
                <a16:creationId xmlns:a16="http://schemas.microsoft.com/office/drawing/2014/main" id="{7F907437-A820-4FB4-819C-4AF830B9BC48}"/>
              </a:ext>
            </a:extLst>
          </p:cNvPr>
          <p:cNvSpPr/>
          <p:nvPr/>
        </p:nvSpPr>
        <p:spPr>
          <a:xfrm>
            <a:off x="2910840" y="4666481"/>
            <a:ext cx="8465819" cy="632624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studied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French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last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year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but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’ve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stopped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studying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5" name="Rounded Rectangular Callout 41">
            <a:extLst>
              <a:ext uri="{FF2B5EF4-FFF2-40B4-BE49-F238E27FC236}">
                <a16:creationId xmlns:a16="http://schemas.microsoft.com/office/drawing/2014/main" id="{02A2CEAD-208B-4613-B685-8E603978F9B3}"/>
              </a:ext>
            </a:extLst>
          </p:cNvPr>
          <p:cNvSpPr/>
          <p:nvPr/>
        </p:nvSpPr>
        <p:spPr>
          <a:xfrm>
            <a:off x="2106613" y="1217295"/>
            <a:ext cx="9594850" cy="1638300"/>
          </a:xfrm>
          <a:prstGeom prst="wedgeRoundRectCallout">
            <a:avLst>
              <a:gd name="adj1" fmla="val -54576"/>
              <a:gd name="adj2" fmla="val -28886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 use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Past Simple 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finished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or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repeated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actions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; the Past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actions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progress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; and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Perfect 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experiences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results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3319" name="Footer Placeholder 1">
            <a:extLst>
              <a:ext uri="{FF2B5EF4-FFF2-40B4-BE49-F238E27FC236}">
                <a16:creationId xmlns:a16="http://schemas.microsoft.com/office/drawing/2014/main" id="{C76D519C-388A-42DC-8E83-0463021574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13320" name="Obraz 14">
            <a:extLst>
              <a:ext uri="{FF2B5EF4-FFF2-40B4-BE49-F238E27FC236}">
                <a16:creationId xmlns:a16="http://schemas.microsoft.com/office/drawing/2014/main" id="{B06E543C-801F-4D31-9089-F866EDDAA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217295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ular Callout 41">
            <a:extLst>
              <a:ext uri="{FF2B5EF4-FFF2-40B4-BE49-F238E27FC236}">
                <a16:creationId xmlns:a16="http://schemas.microsoft.com/office/drawing/2014/main" id="{E3D39477-0743-4495-8534-8BE869B7CE1A}"/>
              </a:ext>
            </a:extLst>
          </p:cNvPr>
          <p:cNvSpPr/>
          <p:nvPr/>
        </p:nvSpPr>
        <p:spPr>
          <a:xfrm>
            <a:off x="2910840" y="5478303"/>
            <a:ext cx="8465819" cy="632624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He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didn’t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remember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switch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off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lights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yesterday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ular Callout 41">
            <a:extLst>
              <a:ext uri="{FF2B5EF4-FFF2-40B4-BE49-F238E27FC236}">
                <a16:creationId xmlns:a16="http://schemas.microsoft.com/office/drawing/2014/main" id="{30C9DB6D-1673-48B9-A0E0-586114BE6A29}"/>
              </a:ext>
            </a:extLst>
          </p:cNvPr>
          <p:cNvSpPr/>
          <p:nvPr/>
        </p:nvSpPr>
        <p:spPr>
          <a:xfrm>
            <a:off x="2203450" y="4795838"/>
            <a:ext cx="7727950" cy="1209675"/>
          </a:xfrm>
          <a:prstGeom prst="wedgeRoundRectCallout">
            <a:avLst>
              <a:gd name="adj1" fmla="val -56550"/>
              <a:gd name="adj2" fmla="val -18697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a)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repeated</a:t>
            </a:r>
            <a:endParaRPr lang="pl-PL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endParaRPr lang="en-US" i="1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F3433539-A5FF-4F2E-87E2-7DAD1C169F91}"/>
              </a:ext>
            </a:extLst>
          </p:cNvPr>
          <p:cNvSpPr/>
          <p:nvPr/>
        </p:nvSpPr>
        <p:spPr>
          <a:xfrm>
            <a:off x="2260600" y="350838"/>
            <a:ext cx="7727950" cy="1209675"/>
          </a:xfrm>
          <a:prstGeom prst="wedgeRoundRectCallout">
            <a:avLst>
              <a:gd name="adj1" fmla="val -57150"/>
              <a:gd name="adj2" fmla="val -25791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Read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text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 past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action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a)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repeated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   b)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finished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   c)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progress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   </a:t>
            </a:r>
            <a:b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</a:b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d)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experience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   e)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result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9A5EE9A2-000C-4A38-A642-BB985F68401A}"/>
              </a:ext>
            </a:extLst>
          </p:cNvPr>
          <p:cNvSpPr/>
          <p:nvPr/>
        </p:nvSpPr>
        <p:spPr>
          <a:xfrm>
            <a:off x="2178050" y="1812925"/>
            <a:ext cx="7727950" cy="2620963"/>
          </a:xfrm>
          <a:prstGeom prst="wedgeRoundRectCallout">
            <a:avLst>
              <a:gd name="adj1" fmla="val 59146"/>
              <a:gd name="adj2" fmla="val -17052"/>
              <a:gd name="adj3" fmla="val 16667"/>
            </a:avLst>
          </a:prstGeom>
          <a:solidFill>
            <a:srgbClr val="FAF8F0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got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up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morning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sun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was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shining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take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umbrella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school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with me. Big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mistake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Six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hours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later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started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rain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really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heavily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while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 was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walking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home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finally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got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back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inside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but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never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wet in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all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my life! I went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swimming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every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day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last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week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but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get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as wet as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 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5CEFF89A-AB72-48DA-9E6D-7FFF86E95093}"/>
              </a:ext>
            </a:extLst>
          </p:cNvPr>
          <p:cNvCxnSpPr>
            <a:cxnSpLocks/>
          </p:cNvCxnSpPr>
          <p:nvPr/>
        </p:nvCxnSpPr>
        <p:spPr>
          <a:xfrm flipH="1">
            <a:off x="7967661" y="3649663"/>
            <a:ext cx="67945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Footer Placeholder 1">
            <a:extLst>
              <a:ext uri="{FF2B5EF4-FFF2-40B4-BE49-F238E27FC236}">
                <a16:creationId xmlns:a16="http://schemas.microsoft.com/office/drawing/2014/main" id="{F638B346-D708-4FBB-854B-A6C6DC4C18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pic>
        <p:nvPicPr>
          <p:cNvPr id="15367" name="Obraz 14">
            <a:extLst>
              <a:ext uri="{FF2B5EF4-FFF2-40B4-BE49-F238E27FC236}">
                <a16:creationId xmlns:a16="http://schemas.microsoft.com/office/drawing/2014/main" id="{BD1B8EA0-EFBD-4A6A-9825-8CF3734DB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350838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Obraz 14">
            <a:extLst>
              <a:ext uri="{FF2B5EF4-FFF2-40B4-BE49-F238E27FC236}">
                <a16:creationId xmlns:a16="http://schemas.microsoft.com/office/drawing/2014/main" id="{240BD3D4-6A66-43BC-9BE3-18F04DD2B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4795838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Obraz 8">
            <a:extLst>
              <a:ext uri="{FF2B5EF4-FFF2-40B4-BE49-F238E27FC236}">
                <a16:creationId xmlns:a16="http://schemas.microsoft.com/office/drawing/2014/main" id="{DF200BA7-8422-489A-AE6F-B8B3B6212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188" y="2185988"/>
            <a:ext cx="123348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522B41-094E-4897-8B96-50F3FE5BF82A}"/>
              </a:ext>
            </a:extLst>
          </p:cNvPr>
          <p:cNvSpPr txBox="1"/>
          <p:nvPr/>
        </p:nvSpPr>
        <p:spPr>
          <a:xfrm>
            <a:off x="4378325" y="4878388"/>
            <a:ext cx="59801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b)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finished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8" name="Łącznik prosty 15">
            <a:extLst>
              <a:ext uri="{FF2B5EF4-FFF2-40B4-BE49-F238E27FC236}">
                <a16:creationId xmlns:a16="http://schemas.microsoft.com/office/drawing/2014/main" id="{59DF0060-88C6-4AC8-AD14-E66EBD857F4E}"/>
              </a:ext>
            </a:extLst>
          </p:cNvPr>
          <p:cNvCxnSpPr>
            <a:cxnSpLocks/>
          </p:cNvCxnSpPr>
          <p:nvPr/>
        </p:nvCxnSpPr>
        <p:spPr>
          <a:xfrm flipH="1">
            <a:off x="3415507" y="2192181"/>
            <a:ext cx="93345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5">
            <a:extLst>
              <a:ext uri="{FF2B5EF4-FFF2-40B4-BE49-F238E27FC236}">
                <a16:creationId xmlns:a16="http://schemas.microsoft.com/office/drawing/2014/main" id="{A44657FF-D502-4A71-B4D2-5D20382320C3}"/>
              </a:ext>
            </a:extLst>
          </p:cNvPr>
          <p:cNvCxnSpPr>
            <a:cxnSpLocks/>
          </p:cNvCxnSpPr>
          <p:nvPr/>
        </p:nvCxnSpPr>
        <p:spPr>
          <a:xfrm flipH="1">
            <a:off x="5911852" y="2911475"/>
            <a:ext cx="188674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15">
            <a:extLst>
              <a:ext uri="{FF2B5EF4-FFF2-40B4-BE49-F238E27FC236}">
                <a16:creationId xmlns:a16="http://schemas.microsoft.com/office/drawing/2014/main" id="{1290D233-1C97-4ADE-9CB9-8DFC42F48EFC}"/>
              </a:ext>
            </a:extLst>
          </p:cNvPr>
          <p:cNvCxnSpPr>
            <a:cxnSpLocks/>
          </p:cNvCxnSpPr>
          <p:nvPr/>
        </p:nvCxnSpPr>
        <p:spPr>
          <a:xfrm flipH="1">
            <a:off x="7310440" y="4022725"/>
            <a:ext cx="224869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15">
            <a:extLst>
              <a:ext uri="{FF2B5EF4-FFF2-40B4-BE49-F238E27FC236}">
                <a16:creationId xmlns:a16="http://schemas.microsoft.com/office/drawing/2014/main" id="{F0B1AB22-D841-46C9-9F49-F603D367E302}"/>
              </a:ext>
            </a:extLst>
          </p:cNvPr>
          <p:cNvCxnSpPr>
            <a:cxnSpLocks/>
          </p:cNvCxnSpPr>
          <p:nvPr/>
        </p:nvCxnSpPr>
        <p:spPr>
          <a:xfrm flipH="1">
            <a:off x="2412208" y="2555874"/>
            <a:ext cx="3102609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EA0B95C-14A6-4936-8BEC-8941269F0CBF}"/>
              </a:ext>
            </a:extLst>
          </p:cNvPr>
          <p:cNvSpPr txBox="1"/>
          <p:nvPr/>
        </p:nvSpPr>
        <p:spPr>
          <a:xfrm>
            <a:off x="2260600" y="5349875"/>
            <a:ext cx="27178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d) an experience</a:t>
            </a:r>
          </a:p>
        </p:txBody>
      </p:sp>
      <p:cxnSp>
        <p:nvCxnSpPr>
          <p:cNvPr id="28" name="Łącznik prosty 15">
            <a:extLst>
              <a:ext uri="{FF2B5EF4-FFF2-40B4-BE49-F238E27FC236}">
                <a16:creationId xmlns:a16="http://schemas.microsoft.com/office/drawing/2014/main" id="{E20D0B86-CF90-4DBB-9B83-4CADC6C582EF}"/>
              </a:ext>
            </a:extLst>
          </p:cNvPr>
          <p:cNvCxnSpPr>
            <a:cxnSpLocks/>
          </p:cNvCxnSpPr>
          <p:nvPr/>
        </p:nvCxnSpPr>
        <p:spPr>
          <a:xfrm flipH="1">
            <a:off x="3027363" y="3649663"/>
            <a:ext cx="2921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E47F1BC-84B3-4E12-9ABE-EC7B5BE9512E}"/>
              </a:ext>
            </a:extLst>
          </p:cNvPr>
          <p:cNvSpPr txBox="1"/>
          <p:nvPr/>
        </p:nvSpPr>
        <p:spPr>
          <a:xfrm>
            <a:off x="5159375" y="5349875"/>
            <a:ext cx="364648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e) a present result</a:t>
            </a:r>
          </a:p>
        </p:txBody>
      </p:sp>
      <p:cxnSp>
        <p:nvCxnSpPr>
          <p:cNvPr id="31" name="Łącznik prosty 15">
            <a:extLst>
              <a:ext uri="{FF2B5EF4-FFF2-40B4-BE49-F238E27FC236}">
                <a16:creationId xmlns:a16="http://schemas.microsoft.com/office/drawing/2014/main" id="{AD446C26-1C38-4AFA-AE58-82747BA91151}"/>
              </a:ext>
            </a:extLst>
          </p:cNvPr>
          <p:cNvCxnSpPr>
            <a:cxnSpLocks/>
          </p:cNvCxnSpPr>
          <p:nvPr/>
        </p:nvCxnSpPr>
        <p:spPr>
          <a:xfrm flipH="1">
            <a:off x="6052347" y="3279775"/>
            <a:ext cx="33869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29D0B10-CD1A-4212-B75F-B83277A7EE75}"/>
              </a:ext>
            </a:extLst>
          </p:cNvPr>
          <p:cNvSpPr txBox="1"/>
          <p:nvPr/>
        </p:nvSpPr>
        <p:spPr>
          <a:xfrm>
            <a:off x="6735763" y="4878388"/>
            <a:ext cx="432276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c) in progress</a:t>
            </a:r>
          </a:p>
        </p:txBody>
      </p:sp>
      <p:cxnSp>
        <p:nvCxnSpPr>
          <p:cNvPr id="36" name="Łącznik prosty 15">
            <a:extLst>
              <a:ext uri="{FF2B5EF4-FFF2-40B4-BE49-F238E27FC236}">
                <a16:creationId xmlns:a16="http://schemas.microsoft.com/office/drawing/2014/main" id="{5A4F50EF-C457-43C9-84EA-F18921421832}"/>
              </a:ext>
            </a:extLst>
          </p:cNvPr>
          <p:cNvCxnSpPr>
            <a:cxnSpLocks/>
          </p:cNvCxnSpPr>
          <p:nvPr/>
        </p:nvCxnSpPr>
        <p:spPr>
          <a:xfrm flipH="1">
            <a:off x="7374731" y="2192181"/>
            <a:ext cx="152162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Łącznik prosty 15">
            <a:extLst>
              <a:ext uri="{FF2B5EF4-FFF2-40B4-BE49-F238E27FC236}">
                <a16:creationId xmlns:a16="http://schemas.microsoft.com/office/drawing/2014/main" id="{E851389F-652F-4E06-B703-DC5A804FA285}"/>
              </a:ext>
            </a:extLst>
          </p:cNvPr>
          <p:cNvCxnSpPr>
            <a:cxnSpLocks/>
          </p:cNvCxnSpPr>
          <p:nvPr/>
        </p:nvCxnSpPr>
        <p:spPr>
          <a:xfrm flipH="1">
            <a:off x="3355977" y="3279775"/>
            <a:ext cx="158908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Łącznik prosty 47">
            <a:extLst>
              <a:ext uri="{FF2B5EF4-FFF2-40B4-BE49-F238E27FC236}">
                <a16:creationId xmlns:a16="http://schemas.microsoft.com/office/drawing/2014/main" id="{527903CE-7FFF-44D4-A88E-7C0A86648351}"/>
              </a:ext>
            </a:extLst>
          </p:cNvPr>
          <p:cNvCxnSpPr>
            <a:cxnSpLocks/>
          </p:cNvCxnSpPr>
          <p:nvPr/>
        </p:nvCxnSpPr>
        <p:spPr>
          <a:xfrm flipH="1">
            <a:off x="2393158" y="4022725"/>
            <a:ext cx="274796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" grpId="0"/>
      <p:bldP spid="27" grpId="0"/>
      <p:bldP spid="30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aokrąglony prostokąt 2">
            <a:extLst>
              <a:ext uri="{FF2B5EF4-FFF2-40B4-BE49-F238E27FC236}">
                <a16:creationId xmlns:a16="http://schemas.microsoft.com/office/drawing/2014/main" id="{35EC6B88-BE20-4A37-B1FB-4B0A7756837A}"/>
              </a:ext>
            </a:extLst>
          </p:cNvPr>
          <p:cNvSpPr/>
          <p:nvPr/>
        </p:nvSpPr>
        <p:spPr>
          <a:xfrm>
            <a:off x="1001713" y="3711258"/>
            <a:ext cx="9013825" cy="1074737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solidFill>
              <a:srgbClr val="E3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BC71E4F-5738-4119-B605-B17611798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927435"/>
              </p:ext>
            </p:extLst>
          </p:nvPr>
        </p:nvGraphicFramePr>
        <p:xfrm>
          <a:off x="1001713" y="1525588"/>
          <a:ext cx="9013825" cy="2735264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4505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52">
                <a:tc>
                  <a:txBody>
                    <a:bodyPr/>
                    <a:lstStyle/>
                    <a:p>
                      <a:pPr lvl="3"/>
                      <a:r>
                        <a:rPr lang="pl-PL" sz="1600" dirty="0">
                          <a:latin typeface="Open Sans" charset="0"/>
                          <a:ea typeface="Open Sans" charset="0"/>
                          <a:cs typeface="Open Sans" charset="0"/>
                        </a:rPr>
                        <a:t>Past Simple</a:t>
                      </a:r>
                      <a:endParaRPr lang="en-GB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 anchor="ctr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i="0" dirty="0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Past </a:t>
                      </a:r>
                      <a:r>
                        <a:rPr lang="pl-PL" sz="1600" i="0" dirty="0" err="1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Continuous</a:t>
                      </a:r>
                      <a:endParaRPr lang="en-GB" sz="1600" i="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5" marR="91425" marT="45703" marB="45703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5" marR="91425" marT="45703" marB="45703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52">
                <a:tc>
                  <a:txBody>
                    <a:bodyPr/>
                    <a:lstStyle/>
                    <a:p>
                      <a:pPr lvl="3"/>
                      <a:endParaRPr lang="pl-PL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7" marR="91427" marT="45715" marB="4571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52">
                <a:tc gridSpan="2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Past Simple and Past </a:t>
                      </a:r>
                      <a:r>
                        <a:rPr lang="pl-PL" sz="1600" b="1" dirty="0" err="1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Continuous</a:t>
                      </a:r>
                      <a:endParaRPr lang="en-GB" sz="1600" b="1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A0E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7" marR="91427" marT="45715" marB="4571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52">
                <a:tc gridSpan="2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7" marR="91427" marT="45715" marB="4571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52">
                <a:tc gridSpan="2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5" marR="91425" marT="45703" marB="4570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7" marR="91427" marT="45715" marB="45715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B35FB45-895C-46CC-A8A6-E5122D448FFE}"/>
              </a:ext>
            </a:extLst>
          </p:cNvPr>
          <p:cNvSpPr/>
          <p:nvPr/>
        </p:nvSpPr>
        <p:spPr>
          <a:xfrm>
            <a:off x="1008063" y="1924368"/>
            <a:ext cx="3878262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She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arrived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yesterday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0446ED9A-0B7B-4FFB-877B-6854C8597026}"/>
              </a:ext>
            </a:extLst>
          </p:cNvPr>
          <p:cNvSpPr/>
          <p:nvPr/>
        </p:nvSpPr>
        <p:spPr>
          <a:xfrm>
            <a:off x="5513388" y="2323467"/>
            <a:ext cx="4595813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You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were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busy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earlier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.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What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were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you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doing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?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5" name="Shape 81">
            <a:extLst>
              <a:ext uri="{FF2B5EF4-FFF2-40B4-BE49-F238E27FC236}">
                <a16:creationId xmlns:a16="http://schemas.microsoft.com/office/drawing/2014/main" id="{4BCEFE45-2A75-47BD-8835-1C7FDD223BE2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the Past Simple and Past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Continuous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17435" name="Footer Placeholder 1">
            <a:extLst>
              <a:ext uri="{FF2B5EF4-FFF2-40B4-BE49-F238E27FC236}">
                <a16:creationId xmlns:a16="http://schemas.microsoft.com/office/drawing/2014/main" id="{2EDCCB30-768F-4DCB-B870-C4246FF222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7C405-24A3-473C-BD2C-84D23709A0CB}"/>
              </a:ext>
            </a:extLst>
          </p:cNvPr>
          <p:cNvSpPr/>
          <p:nvPr/>
        </p:nvSpPr>
        <p:spPr>
          <a:xfrm>
            <a:off x="1008063" y="2713195"/>
            <a:ext cx="4416425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They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studied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together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every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day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last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week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08474C-3495-4196-A20A-8BFA00A05DDE}"/>
              </a:ext>
            </a:extLst>
          </p:cNvPr>
          <p:cNvSpPr/>
          <p:nvPr/>
        </p:nvSpPr>
        <p:spPr>
          <a:xfrm>
            <a:off x="1008063" y="2323467"/>
            <a:ext cx="5118100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I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dropped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my mobile and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broke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the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screen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AB2FA855-B95E-42B4-8D2B-15250712528A}"/>
              </a:ext>
            </a:extLst>
          </p:cNvPr>
          <p:cNvSpPr/>
          <p:nvPr/>
        </p:nvSpPr>
        <p:spPr>
          <a:xfrm>
            <a:off x="163516" y="4401823"/>
            <a:ext cx="3117848" cy="1411288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598D2-0945-4093-8299-137EB8A9A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" y="4674872"/>
            <a:ext cx="2500314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use the Past Simple for finished actions</a:t>
            </a:r>
          </a:p>
          <a:p>
            <a:pPr>
              <a:defRPr/>
            </a:pPr>
            <a:endParaRPr lang="en-US" altLang="en-US" sz="16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E66A01-34B9-4341-8AB7-6BB04EA00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4921568"/>
            <a:ext cx="25749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   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and repeated actions.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A1C9A0-BF27-4796-A2A9-078D3855D3E1}"/>
              </a:ext>
            </a:extLst>
          </p:cNvPr>
          <p:cNvSpPr/>
          <p:nvPr/>
        </p:nvSpPr>
        <p:spPr>
          <a:xfrm>
            <a:off x="5513388" y="1924368"/>
            <a:ext cx="5119688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At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six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o’clock,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she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was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talking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to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her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friend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1BAD794D-C62C-4053-A1D1-64F6DD61C414}"/>
              </a:ext>
            </a:extLst>
          </p:cNvPr>
          <p:cNvSpPr/>
          <p:nvPr/>
        </p:nvSpPr>
        <p:spPr>
          <a:xfrm>
            <a:off x="2763838" y="4708367"/>
            <a:ext cx="3194050" cy="152082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65BCFA-8172-4003-B6C5-0299E346C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013" y="4896012"/>
            <a:ext cx="27305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Watch out for spelling changes in regular verbs.</a:t>
            </a:r>
          </a:p>
          <a:p>
            <a:pPr algn="ctr">
              <a:defRPr/>
            </a:pPr>
            <a:r>
              <a:rPr lang="pl-P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drop &gt;</a:t>
            </a:r>
            <a:r>
              <a:rPr lang="pl-PL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i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dropped</a:t>
            </a:r>
            <a:endParaRPr lang="pl-PL" sz="1600" b="1" i="1" dirty="0">
              <a:solidFill>
                <a:srgbClr val="008ED1"/>
              </a:solidFill>
              <a:latin typeface="Open Sans" charset="0"/>
              <a:ea typeface="Open Sans" charset="0"/>
              <a:cs typeface="Open Sans" charset="0"/>
            </a:endParaRPr>
          </a:p>
          <a:p>
            <a:pPr algn="ctr">
              <a:defRPr/>
            </a:pP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study</a:t>
            </a:r>
            <a:r>
              <a:rPr lang="pl-P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&gt; </a:t>
            </a:r>
            <a:r>
              <a:rPr lang="pl-PL" sz="1600" b="1" i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studied</a:t>
            </a:r>
            <a:endParaRPr lang="en-GB" altLang="en-US" sz="1600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D0C8FBD2-1B24-4C93-BBA3-DDD95B37ACAE}"/>
              </a:ext>
            </a:extLst>
          </p:cNvPr>
          <p:cNvSpPr/>
          <p:nvPr/>
        </p:nvSpPr>
        <p:spPr>
          <a:xfrm>
            <a:off x="1001713" y="3482182"/>
            <a:ext cx="377825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I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41A6AC48-E666-4169-82BD-68F665DA4539}"/>
              </a:ext>
            </a:extLst>
          </p:cNvPr>
          <p:cNvSpPr/>
          <p:nvPr/>
        </p:nvSpPr>
        <p:spPr>
          <a:xfrm>
            <a:off x="1008063" y="3868738"/>
            <a:ext cx="1066800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While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I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79918727-2534-49A0-BD53-A9E98694475B}"/>
              </a:ext>
            </a:extLst>
          </p:cNvPr>
          <p:cNvSpPr/>
          <p:nvPr/>
        </p:nvSpPr>
        <p:spPr>
          <a:xfrm>
            <a:off x="1160463" y="3482182"/>
            <a:ext cx="1462087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was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running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DB6E9DDB-B8AA-4CC7-B7DE-5400C9D200F4}"/>
              </a:ext>
            </a:extLst>
          </p:cNvPr>
          <p:cNvSpPr/>
          <p:nvPr/>
        </p:nvSpPr>
        <p:spPr>
          <a:xfrm>
            <a:off x="2401253" y="3482182"/>
            <a:ext cx="1847850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in a race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when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I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541205E6-9A1A-4232-B2C5-477D5FA682A6}"/>
              </a:ext>
            </a:extLst>
          </p:cNvPr>
          <p:cNvSpPr/>
          <p:nvPr/>
        </p:nvSpPr>
        <p:spPr>
          <a:xfrm>
            <a:off x="3874770" y="3482182"/>
            <a:ext cx="630238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fell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F3E4C5E2-827D-4962-90CE-D64140C0F057}"/>
              </a:ext>
            </a:extLst>
          </p:cNvPr>
          <p:cNvSpPr/>
          <p:nvPr/>
        </p:nvSpPr>
        <p:spPr>
          <a:xfrm>
            <a:off x="1712913" y="3868738"/>
            <a:ext cx="1733550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was sleeping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,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789BAA14-1C64-4ABE-9200-2A6BE755AF9E}"/>
              </a:ext>
            </a:extLst>
          </p:cNvPr>
          <p:cNvSpPr/>
          <p:nvPr/>
        </p:nvSpPr>
        <p:spPr>
          <a:xfrm>
            <a:off x="3030220" y="3868738"/>
            <a:ext cx="1411288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phone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07A51DCA-5E88-48B6-9632-6D990A42373A}"/>
              </a:ext>
            </a:extLst>
          </p:cNvPr>
          <p:cNvSpPr/>
          <p:nvPr/>
        </p:nvSpPr>
        <p:spPr>
          <a:xfrm>
            <a:off x="4024630" y="3868738"/>
            <a:ext cx="890588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rang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7CA18213-DFDB-41B4-B42B-25E127E02AD7}"/>
              </a:ext>
            </a:extLst>
          </p:cNvPr>
          <p:cNvSpPr/>
          <p:nvPr/>
        </p:nvSpPr>
        <p:spPr>
          <a:xfrm>
            <a:off x="5655780" y="4404211"/>
            <a:ext cx="2728913" cy="1411287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0DAB24-4B25-4E7C-BC12-3D3265513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4870" y="4637891"/>
            <a:ext cx="20061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use the Past Continuous for actions in progress.</a:t>
            </a:r>
          </a:p>
        </p:txBody>
      </p:sp>
      <p:sp>
        <p:nvSpPr>
          <p:cNvPr id="27" name="Cloud 26">
            <a:extLst>
              <a:ext uri="{FF2B5EF4-FFF2-40B4-BE49-F238E27FC236}">
                <a16:creationId xmlns:a16="http://schemas.microsoft.com/office/drawing/2014/main" id="{B2AA3A0E-3949-465D-9922-C0FEA88E26BD}"/>
              </a:ext>
            </a:extLst>
          </p:cNvPr>
          <p:cNvSpPr/>
          <p:nvPr/>
        </p:nvSpPr>
        <p:spPr>
          <a:xfrm>
            <a:off x="8065057" y="4592003"/>
            <a:ext cx="3952311" cy="163718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4BACEA-C0A9-4F9F-A820-E624A889C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8207" y="5369243"/>
            <a:ext cx="30686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and the Past Simple for the actions that interrupt them.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6CC8CD-054E-4E13-8B70-C29BC3090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2" y="4864101"/>
            <a:ext cx="308451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use the Past Continuous for background actions</a:t>
            </a:r>
          </a:p>
          <a:p>
            <a:pPr>
              <a:defRPr/>
            </a:pPr>
            <a:endParaRPr lang="en-US" altLang="en-US" sz="16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5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12" grpId="0"/>
      <p:bldP spid="13" grpId="0"/>
      <p:bldP spid="15" grpId="0"/>
      <p:bldP spid="17" grpId="0"/>
      <p:bldP spid="21" grpId="0"/>
      <p:bldP spid="23" grpId="0"/>
      <p:bldP spid="25" grpId="0"/>
      <p:bldP spid="26" grpId="0"/>
      <p:bldP spid="36" grpId="0"/>
      <p:bldP spid="36" grpId="1"/>
      <p:bldP spid="37" grpId="0"/>
      <p:bldP spid="38" grpId="0"/>
      <p:bldP spid="38" grpId="1"/>
      <p:bldP spid="39" grpId="0"/>
      <p:bldP spid="39" grpId="1"/>
      <p:bldP spid="40" grpId="0"/>
      <p:bldP spid="41" grpId="0"/>
      <p:bldP spid="41" grpId="1"/>
      <p:bldP spid="18" grpId="0"/>
      <p:bldP spid="32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aokrąglony prostokąt 2">
            <a:extLst>
              <a:ext uri="{FF2B5EF4-FFF2-40B4-BE49-F238E27FC236}">
                <a16:creationId xmlns:a16="http://schemas.microsoft.com/office/drawing/2014/main" id="{1976ADD3-E0F5-4A82-A5DE-71A64DEF11B0}"/>
              </a:ext>
            </a:extLst>
          </p:cNvPr>
          <p:cNvSpPr/>
          <p:nvPr/>
        </p:nvSpPr>
        <p:spPr>
          <a:xfrm>
            <a:off x="2500314" y="3068638"/>
            <a:ext cx="7248524" cy="1074737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solidFill>
              <a:srgbClr val="E3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9F3BC20-D218-4E0F-998E-3F8CE3105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139842"/>
              </p:ext>
            </p:extLst>
          </p:nvPr>
        </p:nvGraphicFramePr>
        <p:xfrm>
          <a:off x="2500313" y="1612900"/>
          <a:ext cx="7210425" cy="1954215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721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0843">
                <a:tc>
                  <a:txBody>
                    <a:bodyPr/>
                    <a:lstStyle/>
                    <a:p>
                      <a:pPr lvl="3"/>
                      <a:r>
                        <a:rPr lang="pl-PL" sz="1600" dirty="0" err="1">
                          <a:latin typeface="Open Sans" charset="0"/>
                          <a:ea typeface="Open Sans" charset="0"/>
                          <a:cs typeface="Open Sans" charset="0"/>
                        </a:rPr>
                        <a:t>Present</a:t>
                      </a:r>
                      <a:r>
                        <a:rPr lang="pl-PL" sz="1600" dirty="0">
                          <a:latin typeface="Open Sans" charset="0"/>
                          <a:ea typeface="Open Sans" charset="0"/>
                          <a:cs typeface="Open Sans" charset="0"/>
                        </a:rPr>
                        <a:t> Perfect</a:t>
                      </a:r>
                      <a:endParaRPr lang="en-GB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3" marR="91443" marT="45713" marB="45713" anchor="ctr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43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3" marR="91443" marT="45713" marB="4571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43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3" marR="91443" marT="45713" marB="4571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43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 err="1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Present</a:t>
                      </a:r>
                      <a:r>
                        <a:rPr lang="pl-PL" sz="1600" b="1" dirty="0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 Perfect and Past Simple</a:t>
                      </a:r>
                      <a:endParaRPr lang="en-GB" sz="1600" b="1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3" marR="91443" marT="45713" marB="4571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A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43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3" marR="91443" marT="45713" marB="45713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FFD02D3-0F9E-41DE-90A7-B710EFEE6090}"/>
              </a:ext>
            </a:extLst>
          </p:cNvPr>
          <p:cNvSpPr/>
          <p:nvPr/>
        </p:nvSpPr>
        <p:spPr>
          <a:xfrm>
            <a:off x="2502695" y="2011949"/>
            <a:ext cx="3878263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She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’s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just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left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 party.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35" name="Shape 81">
            <a:extLst>
              <a:ext uri="{FF2B5EF4-FFF2-40B4-BE49-F238E27FC236}">
                <a16:creationId xmlns:a16="http://schemas.microsoft.com/office/drawing/2014/main" id="{B21E6CD0-F141-499B-A2C9-C6BDF608E839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the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Present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Perfect?</a:t>
            </a:r>
          </a:p>
        </p:txBody>
      </p:sp>
      <p:sp>
        <p:nvSpPr>
          <p:cNvPr id="19474" name="Footer Placeholder 1">
            <a:extLst>
              <a:ext uri="{FF2B5EF4-FFF2-40B4-BE49-F238E27FC236}">
                <a16:creationId xmlns:a16="http://schemas.microsoft.com/office/drawing/2014/main" id="{A5E25213-B90B-4DEE-9BF8-D7F23BC283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B71884-5E61-4D67-B58B-34EBE5F4E1B6}"/>
              </a:ext>
            </a:extLst>
          </p:cNvPr>
          <p:cNvSpPr/>
          <p:nvPr/>
        </p:nvSpPr>
        <p:spPr>
          <a:xfrm>
            <a:off x="2502695" y="2393158"/>
            <a:ext cx="5119688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They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’ve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never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been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to the USA.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3F46D80C-2EAF-4E5C-88C7-29ED01334287}"/>
              </a:ext>
            </a:extLst>
          </p:cNvPr>
          <p:cNvSpPr/>
          <p:nvPr/>
        </p:nvSpPr>
        <p:spPr>
          <a:xfrm>
            <a:off x="1036369" y="3841546"/>
            <a:ext cx="3213100" cy="152082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2E975-4BED-458F-8080-39AF65CC0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046" y="4156724"/>
            <a:ext cx="269713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use the Present Perfect for results in the present</a:t>
            </a:r>
          </a:p>
          <a:p>
            <a:pPr>
              <a:defRPr/>
            </a:pPr>
            <a:endParaRPr lang="en-US" altLang="en-US" sz="16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A56710-D6E5-4564-8F6D-9FD5AF52E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3046" y="4638690"/>
            <a:ext cx="26971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and experiences.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21DEA5B8-880D-4BFE-A10D-F23122042399}"/>
              </a:ext>
            </a:extLst>
          </p:cNvPr>
          <p:cNvSpPr/>
          <p:nvPr/>
        </p:nvSpPr>
        <p:spPr>
          <a:xfrm>
            <a:off x="4125104" y="4178302"/>
            <a:ext cx="3192463" cy="182721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E016C-8625-4327-96BB-AEFF44045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930" y="4479927"/>
            <a:ext cx="269557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Adverbs such as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never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ever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just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yet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recently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already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are often used with the Present Perfect.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34CEC649-3A48-4034-B817-2A3591D7F6D8}"/>
              </a:ext>
            </a:extLst>
          </p:cNvPr>
          <p:cNvSpPr/>
          <p:nvPr/>
        </p:nvSpPr>
        <p:spPr>
          <a:xfrm>
            <a:off x="2497936" y="3178969"/>
            <a:ext cx="377825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I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27" name="Cloud 26">
            <a:extLst>
              <a:ext uri="{FF2B5EF4-FFF2-40B4-BE49-F238E27FC236}">
                <a16:creationId xmlns:a16="http://schemas.microsoft.com/office/drawing/2014/main" id="{C73F3953-57FA-4EE5-BB50-D9526DDD8EFE}"/>
              </a:ext>
            </a:extLst>
          </p:cNvPr>
          <p:cNvSpPr/>
          <p:nvPr/>
        </p:nvSpPr>
        <p:spPr>
          <a:xfrm>
            <a:off x="7400117" y="3721307"/>
            <a:ext cx="4081463" cy="195421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F37646-E2A5-4F6E-822E-C5DFE394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8292" y="4026107"/>
            <a:ext cx="30845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use the Present Perfect for an experience at an unspecified time in the past</a:t>
            </a:r>
          </a:p>
          <a:p>
            <a:pPr>
              <a:defRPr/>
            </a:pPr>
            <a:endParaRPr lang="en-US" altLang="en-US" sz="16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4ED7A0-929D-49A3-AC32-CA3BE47B3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8292" y="4513155"/>
            <a:ext cx="30686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                         and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Past Simple when we give details about the experience.</a:t>
            </a: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3C03A8A4-8D37-44EA-88F5-2FF80E3E79A1}"/>
              </a:ext>
            </a:extLst>
          </p:cNvPr>
          <p:cNvSpPr/>
          <p:nvPr/>
        </p:nvSpPr>
        <p:spPr>
          <a:xfrm>
            <a:off x="2545552" y="3178969"/>
            <a:ext cx="1133475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’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ve</a:t>
            </a:r>
            <a:r>
              <a:rPr lang="pl-PL" sz="1600" b="1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been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469F2071-8B36-4A7B-A637-FE8E269E154B}"/>
              </a:ext>
            </a:extLst>
          </p:cNvPr>
          <p:cNvSpPr/>
          <p:nvPr/>
        </p:nvSpPr>
        <p:spPr>
          <a:xfrm>
            <a:off x="3400415" y="3178969"/>
            <a:ext cx="2371725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to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this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theatre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before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 I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28D26A84-C23B-4BEA-B3AF-74D520F8E674}"/>
              </a:ext>
            </a:extLst>
          </p:cNvPr>
          <p:cNvSpPr/>
          <p:nvPr/>
        </p:nvSpPr>
        <p:spPr>
          <a:xfrm>
            <a:off x="5487973" y="3178969"/>
            <a:ext cx="831850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</a:rPr>
              <a:t>came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9B0DC521-DF71-4F40-97CA-6A46F6A29C65}"/>
              </a:ext>
            </a:extLst>
          </p:cNvPr>
          <p:cNvSpPr/>
          <p:nvPr/>
        </p:nvSpPr>
        <p:spPr>
          <a:xfrm>
            <a:off x="6046774" y="3178969"/>
            <a:ext cx="3355975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here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with my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parents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last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year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C10885-1702-4D54-868E-6848CAFA7B6B}"/>
              </a:ext>
            </a:extLst>
          </p:cNvPr>
          <p:cNvSpPr/>
          <p:nvPr/>
        </p:nvSpPr>
        <p:spPr>
          <a:xfrm>
            <a:off x="4637564" y="2007187"/>
            <a:ext cx="27289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(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result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: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She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isn’t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there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now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.)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5" grpId="0"/>
      <p:bldP spid="17" grpId="0"/>
      <p:bldP spid="23" grpId="0"/>
      <p:bldP spid="25" grpId="0"/>
      <p:bldP spid="31" grpId="0"/>
      <p:bldP spid="32" grpId="0"/>
      <p:bldP spid="36" grpId="0"/>
      <p:bldP spid="36" grpId="1"/>
      <p:bldP spid="37" grpId="0"/>
      <p:bldP spid="38" grpId="0"/>
      <p:bldP spid="38" grpId="1"/>
      <p:bldP spid="30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C5A67E-1F5D-402B-A7BE-ECF92F15DDB3}"/>
              </a:ext>
            </a:extLst>
          </p:cNvPr>
          <p:cNvSpPr txBox="1"/>
          <p:nvPr/>
        </p:nvSpPr>
        <p:spPr>
          <a:xfrm>
            <a:off x="309563" y="1962150"/>
            <a:ext cx="11684000" cy="43005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was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raining / rained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I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woke up / was waking up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 I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had / was having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 breakfast, my friend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sent / was sending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 a text.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was jogging / jogged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park when I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 / was meeting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 friend.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was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breaking / broke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his leg when he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learned / was learning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ski.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</a:t>
            </a:r>
            <a:r>
              <a:rPr lang="en-GB" sz="16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never won / never won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race, but I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have come / came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in a sports quiz last year.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 changed / changed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her clothes. She 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wore / was wearing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jeans earlier, and now she’s wearing a dress.</a:t>
            </a:r>
            <a:b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0" name="Shape 82">
            <a:extLst>
              <a:ext uri="{FF2B5EF4-FFF2-40B4-BE49-F238E27FC236}">
                <a16:creationId xmlns:a16="http://schemas.microsoft.com/office/drawing/2014/main" id="{48D3EDC9-4C68-4795-9F2F-44A3795717C5}"/>
              </a:ext>
            </a:extLst>
          </p:cNvPr>
          <p:cNvSpPr txBox="1">
            <a:spLocks/>
          </p:cNvSpPr>
          <p:nvPr/>
        </p:nvSpPr>
        <p:spPr>
          <a:xfrm>
            <a:off x="1762125" y="922338"/>
            <a:ext cx="6757988" cy="8429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lnSpc>
                <a:spcPts val="2600"/>
              </a:lnSpc>
              <a:spcAft>
                <a:spcPts val="0"/>
              </a:spcAft>
              <a:buClr>
                <a:srgbClr val="9E3611"/>
              </a:buClr>
              <a:buSzPct val="25000"/>
              <a:buFontTx/>
              <a:buNone/>
              <a:defRPr/>
            </a:pP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Choose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correct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option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.</a:t>
            </a:r>
            <a:endParaRPr lang="en-US" sz="2000" b="1" kern="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8" name="Shape 81">
            <a:extLst>
              <a:ext uri="{FF2B5EF4-FFF2-40B4-BE49-F238E27FC236}">
                <a16:creationId xmlns:a16="http://schemas.microsoft.com/office/drawing/2014/main" id="{14DC7EEF-352C-495A-9944-06D65707309F}"/>
              </a:ext>
            </a:extLst>
          </p:cNvPr>
          <p:cNvSpPr txBox="1">
            <a:spLocks/>
          </p:cNvSpPr>
          <p:nvPr/>
        </p:nvSpPr>
        <p:spPr>
          <a:xfrm>
            <a:off x="1762125" y="233363"/>
            <a:ext cx="10142538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Practice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Time</a:t>
            </a:r>
          </a:p>
        </p:txBody>
      </p:sp>
      <p:sp>
        <p:nvSpPr>
          <p:cNvPr id="21509" name="Footer Placeholder 1">
            <a:extLst>
              <a:ext uri="{FF2B5EF4-FFF2-40B4-BE49-F238E27FC236}">
                <a16:creationId xmlns:a16="http://schemas.microsoft.com/office/drawing/2014/main" id="{EA83BDED-B59F-4D4F-874E-9D477817E9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A37F86B-3A92-43AF-A011-71C0910F1F8D}"/>
              </a:ext>
            </a:extLst>
          </p:cNvPr>
          <p:cNvSpPr/>
          <p:nvPr/>
        </p:nvSpPr>
        <p:spPr>
          <a:xfrm>
            <a:off x="871538" y="2191703"/>
            <a:ext cx="1233487" cy="42227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6E020D-A1CF-49EC-8B2D-423E23F14543}"/>
              </a:ext>
            </a:extLst>
          </p:cNvPr>
          <p:cNvSpPr/>
          <p:nvPr/>
        </p:nvSpPr>
        <p:spPr>
          <a:xfrm>
            <a:off x="3549651" y="2191703"/>
            <a:ext cx="869950" cy="42227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EAA88D7-5A60-4D09-9E6D-D9A40CB17AD5}"/>
              </a:ext>
            </a:extLst>
          </p:cNvPr>
          <p:cNvSpPr/>
          <p:nvPr/>
        </p:nvSpPr>
        <p:spPr>
          <a:xfrm>
            <a:off x="5244306" y="2795588"/>
            <a:ext cx="471488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80F292-3823-48A9-A28D-EC15BED3DD41}"/>
              </a:ext>
            </a:extLst>
          </p:cNvPr>
          <p:cNvSpPr/>
          <p:nvPr/>
        </p:nvSpPr>
        <p:spPr>
          <a:xfrm>
            <a:off x="1947861" y="2795588"/>
            <a:ext cx="1171577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B728A7-AFA0-4D05-99EE-2415A36759E0}"/>
              </a:ext>
            </a:extLst>
          </p:cNvPr>
          <p:cNvSpPr/>
          <p:nvPr/>
        </p:nvSpPr>
        <p:spPr>
          <a:xfrm>
            <a:off x="4521200" y="3414713"/>
            <a:ext cx="450850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125FDF8-4FB1-4458-92EA-4B9953A7C3F8}"/>
              </a:ext>
            </a:extLst>
          </p:cNvPr>
          <p:cNvSpPr/>
          <p:nvPr/>
        </p:nvSpPr>
        <p:spPr>
          <a:xfrm>
            <a:off x="833438" y="3414713"/>
            <a:ext cx="1198562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5899FC7-2FA7-4D9C-A2EC-5311E1EABA0F}"/>
              </a:ext>
            </a:extLst>
          </p:cNvPr>
          <p:cNvSpPr/>
          <p:nvPr/>
        </p:nvSpPr>
        <p:spPr>
          <a:xfrm>
            <a:off x="5449094" y="4017963"/>
            <a:ext cx="1304132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1F6BA9-DF41-4B82-942E-2E151E58B772}"/>
              </a:ext>
            </a:extLst>
          </p:cNvPr>
          <p:cNvSpPr/>
          <p:nvPr/>
        </p:nvSpPr>
        <p:spPr>
          <a:xfrm>
            <a:off x="2497138" y="4017963"/>
            <a:ext cx="576262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0AB52E2-499F-459F-AC64-2F3EB806F31D}"/>
              </a:ext>
            </a:extLst>
          </p:cNvPr>
          <p:cNvSpPr/>
          <p:nvPr/>
        </p:nvSpPr>
        <p:spPr>
          <a:xfrm>
            <a:off x="5862639" y="4637088"/>
            <a:ext cx="576262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EAD0BF-FE0F-4BD0-A7DF-A51406C341AF}"/>
              </a:ext>
            </a:extLst>
          </p:cNvPr>
          <p:cNvSpPr/>
          <p:nvPr/>
        </p:nvSpPr>
        <p:spPr>
          <a:xfrm>
            <a:off x="803276" y="4637088"/>
            <a:ext cx="1574799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64A983-DFA6-4B85-8B3E-FDC743EEB817}"/>
              </a:ext>
            </a:extLst>
          </p:cNvPr>
          <p:cNvSpPr/>
          <p:nvPr/>
        </p:nvSpPr>
        <p:spPr>
          <a:xfrm>
            <a:off x="5468143" y="5246688"/>
            <a:ext cx="1304132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9C8C0E-09C9-45CE-862B-602722ED3C0A}"/>
              </a:ext>
            </a:extLst>
          </p:cNvPr>
          <p:cNvSpPr/>
          <p:nvPr/>
        </p:nvSpPr>
        <p:spPr>
          <a:xfrm>
            <a:off x="1084261" y="5246688"/>
            <a:ext cx="1304133" cy="42227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1522" name="Obraz 14">
            <a:extLst>
              <a:ext uri="{FF2B5EF4-FFF2-40B4-BE49-F238E27FC236}">
                <a16:creationId xmlns:a16="http://schemas.microsoft.com/office/drawing/2014/main" id="{8F8105FA-B521-4BBD-8167-95B481768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236538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7746</TotalTime>
  <Words>662</Words>
  <Application>Microsoft Office PowerPoint</Application>
  <PresentationFormat>Panoramiczny</PresentationFormat>
  <Paragraphs>71</Paragraphs>
  <Slides>6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1" baseType="lpstr">
      <vt:lpstr>Arial</vt:lpstr>
      <vt:lpstr>Open Sans</vt:lpstr>
      <vt:lpstr>Open Sans Light</vt:lpstr>
      <vt:lpstr>Rokkitt</vt:lpstr>
      <vt:lpstr>Simple Light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Emphatic structures</dc:title>
  <dc:creator>Louise Manicolo</dc:creator>
  <cp:lastModifiedBy>Kwiatkowski, Cezary</cp:lastModifiedBy>
  <cp:revision>416</cp:revision>
  <dcterms:modified xsi:type="dcterms:W3CDTF">2021-02-17T13:05:02Z</dcterms:modified>
</cp:coreProperties>
</file>