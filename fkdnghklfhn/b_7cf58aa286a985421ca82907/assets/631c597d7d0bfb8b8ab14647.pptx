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8"/>
  </p:notesMasterIdLst>
  <p:sldIdLst>
    <p:sldId id="313" r:id="rId2"/>
    <p:sldId id="258" r:id="rId3"/>
    <p:sldId id="295" r:id="rId4"/>
    <p:sldId id="306" r:id="rId5"/>
    <p:sldId id="300" r:id="rId6"/>
    <p:sldId id="272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A2CA1F-3267-4498-8071-7EE1E42671EB}">
  <a:tblStyle styleId="{C3A2CA1F-3267-4498-8071-7EE1E42671EB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7E8E7"/>
          </a:solidFill>
        </a:fill>
      </a:tcStyle>
    </a:wholeTbl>
    <a:band1H>
      <a:tcStyle>
        <a:tcBdr/>
        <a:fill>
          <a:solidFill>
            <a:srgbClr val="EFCECA"/>
          </a:solidFill>
        </a:fill>
      </a:tcStyle>
    </a:band1H>
    <a:band1V>
      <a:tcStyle>
        <a:tcBdr/>
        <a:fill>
          <a:solidFill>
            <a:srgbClr val="EFCECA"/>
          </a:solidFill>
        </a:fill>
      </a:tcStyle>
    </a:band1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4" autoAdjust="0"/>
    <p:restoredTop sz="93924" autoAdjust="0"/>
  </p:normalViewPr>
  <p:slideViewPr>
    <p:cSldViewPr snapToGrid="0">
      <p:cViewPr varScale="1">
        <p:scale>
          <a:sx n="126" d="100"/>
          <a:sy n="126" d="100"/>
        </p:scale>
        <p:origin x="252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 3">
            <a:extLst>
              <a:ext uri="{FF2B5EF4-FFF2-40B4-BE49-F238E27FC236}">
                <a16:creationId xmlns:a16="http://schemas.microsoft.com/office/drawing/2014/main" id="{642AA81A-60C4-441F-AF5A-B5B3F9677A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18A4E94-5516-4368-BAEE-BF27D5AA16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9949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78">
            <a:extLst>
              <a:ext uri="{FF2B5EF4-FFF2-40B4-BE49-F238E27FC236}">
                <a16:creationId xmlns:a16="http://schemas.microsoft.com/office/drawing/2014/main" id="{356D9183-5435-4026-B316-BE76F324E0F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4339" name="Shape 79">
            <a:extLst>
              <a:ext uri="{FF2B5EF4-FFF2-40B4-BE49-F238E27FC236}">
                <a16:creationId xmlns:a16="http://schemas.microsoft.com/office/drawing/2014/main" id="{1EB092DE-CCA7-4313-9087-80D2E4CB8A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78">
            <a:extLst>
              <a:ext uri="{FF2B5EF4-FFF2-40B4-BE49-F238E27FC236}">
                <a16:creationId xmlns:a16="http://schemas.microsoft.com/office/drawing/2014/main" id="{818C2A53-1170-4680-8BB2-376085E408D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6387" name="Shape 79">
            <a:extLst>
              <a:ext uri="{FF2B5EF4-FFF2-40B4-BE49-F238E27FC236}">
                <a16:creationId xmlns:a16="http://schemas.microsoft.com/office/drawing/2014/main" id="{30D36A97-1EDB-4D06-8D13-8129BDFB364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78">
            <a:extLst>
              <a:ext uri="{FF2B5EF4-FFF2-40B4-BE49-F238E27FC236}">
                <a16:creationId xmlns:a16="http://schemas.microsoft.com/office/drawing/2014/main" id="{56B8A79C-CB39-4B7D-84A0-4ABCF833E57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8435" name="Shape 79">
            <a:extLst>
              <a:ext uri="{FF2B5EF4-FFF2-40B4-BE49-F238E27FC236}">
                <a16:creationId xmlns:a16="http://schemas.microsoft.com/office/drawing/2014/main" id="{2FEC0118-C959-47A0-AA47-F2243149197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78">
            <a:extLst>
              <a:ext uri="{FF2B5EF4-FFF2-40B4-BE49-F238E27FC236}">
                <a16:creationId xmlns:a16="http://schemas.microsoft.com/office/drawing/2014/main" id="{C1C06729-4528-46F5-B673-59BFCCA782F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0483" name="Shape 79">
            <a:extLst>
              <a:ext uri="{FF2B5EF4-FFF2-40B4-BE49-F238E27FC236}">
                <a16:creationId xmlns:a16="http://schemas.microsoft.com/office/drawing/2014/main" id="{74D67519-BAE1-4920-BC62-5BED1C4F22E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 284">
            <a:extLst>
              <a:ext uri="{FF2B5EF4-FFF2-40B4-BE49-F238E27FC236}">
                <a16:creationId xmlns:a16="http://schemas.microsoft.com/office/drawing/2014/main" id="{DF62EC26-5392-4EFD-8BBC-574BB9A4E2C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2531" name="Shape 285">
            <a:extLst>
              <a:ext uri="{FF2B5EF4-FFF2-40B4-BE49-F238E27FC236}">
                <a16:creationId xmlns:a16="http://schemas.microsoft.com/office/drawing/2014/main" id="{C3371C5D-9B22-44F5-BC42-2763FF782CB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CEC83A2D-3223-4A3B-8DEC-E571754AD546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ED524E4F-C972-4460-B251-9CD47EBFF0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505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="b"/>
          <a:lstStyle>
            <a:lvl1pPr lvl="0">
              <a:spcBef>
                <a:spcPts val="0"/>
              </a:spcBef>
              <a:buSzPct val="100000"/>
              <a:defRPr sz="3200"/>
            </a:lvl1pPr>
            <a:lvl2pPr lvl="1">
              <a:spcBef>
                <a:spcPts val="0"/>
              </a:spcBef>
              <a:buSzPct val="100000"/>
              <a:defRPr sz="3200"/>
            </a:lvl2pPr>
            <a:lvl3pPr lvl="2">
              <a:spcBef>
                <a:spcPts val="0"/>
              </a:spcBef>
              <a:buSzPct val="100000"/>
              <a:defRPr sz="3200"/>
            </a:lvl3pPr>
            <a:lvl4pPr lvl="3">
              <a:spcBef>
                <a:spcPts val="0"/>
              </a:spcBef>
              <a:buSzPct val="100000"/>
              <a:defRPr sz="3200"/>
            </a:lvl4pPr>
            <a:lvl5pPr lvl="4">
              <a:spcBef>
                <a:spcPts val="0"/>
              </a:spcBef>
              <a:buSzPct val="100000"/>
              <a:defRPr sz="3200"/>
            </a:lvl5pPr>
            <a:lvl6pPr lvl="5">
              <a:spcBef>
                <a:spcPts val="0"/>
              </a:spcBef>
              <a:buSzPct val="100000"/>
              <a:defRPr sz="3200"/>
            </a:lvl6pPr>
            <a:lvl7pPr lvl="6">
              <a:spcBef>
                <a:spcPts val="0"/>
              </a:spcBef>
              <a:buSzPct val="100000"/>
              <a:defRPr sz="3200"/>
            </a:lvl7pPr>
            <a:lvl8pPr lvl="7">
              <a:spcBef>
                <a:spcPts val="0"/>
              </a:spcBef>
              <a:buSzPct val="100000"/>
              <a:defRPr sz="3200"/>
            </a:lvl8pPr>
            <a:lvl9pPr lvl="8">
              <a:spcBef>
                <a:spcPts val="0"/>
              </a:spcBef>
              <a:buSzPct val="100000"/>
              <a:defRPr sz="32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6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4" name="Shape 31">
            <a:extLst>
              <a:ext uri="{FF2B5EF4-FFF2-40B4-BE49-F238E27FC236}">
                <a16:creationId xmlns:a16="http://schemas.microsoft.com/office/drawing/2014/main" id="{69281A2D-155B-44EA-BE5D-C6E46BEF508F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CDE758ED-C49E-40D7-BEE8-DC38BFA4F9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054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53666" y="600200"/>
            <a:ext cx="8490300" cy="54543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  <p:sp>
        <p:nvSpPr>
          <p:cNvPr id="3" name="Shape 34">
            <a:extLst>
              <a:ext uri="{FF2B5EF4-FFF2-40B4-BE49-F238E27FC236}">
                <a16:creationId xmlns:a16="http://schemas.microsoft.com/office/drawing/2014/main" id="{290547C2-CA6E-4608-85D7-FAEA8EABF724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F6CE2025-08DC-4A4A-99C5-D49A56C904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12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>
            <a:extLst>
              <a:ext uri="{FF2B5EF4-FFF2-40B4-BE49-F238E27FC236}">
                <a16:creationId xmlns:a16="http://schemas.microsoft.com/office/drawing/2014/main" id="{A4BCBA54-BA01-4FE2-9C19-77E819C27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5600"/>
            </a:lvl1pPr>
            <a:lvl2pPr lvl="1" algn="ctr">
              <a:spcBef>
                <a:spcPts val="0"/>
              </a:spcBef>
              <a:buSzPct val="100000"/>
              <a:defRPr sz="5600"/>
            </a:lvl2pPr>
            <a:lvl3pPr lvl="2" algn="ctr">
              <a:spcBef>
                <a:spcPts val="0"/>
              </a:spcBef>
              <a:buSzPct val="100000"/>
              <a:defRPr sz="5600"/>
            </a:lvl3pPr>
            <a:lvl4pPr lvl="3" algn="ctr">
              <a:spcBef>
                <a:spcPts val="0"/>
              </a:spcBef>
              <a:buSzPct val="100000"/>
              <a:defRPr sz="5600"/>
            </a:lvl4pPr>
            <a:lvl5pPr lvl="4" algn="ctr">
              <a:spcBef>
                <a:spcPts val="0"/>
              </a:spcBef>
              <a:buSzPct val="100000"/>
              <a:defRPr sz="5600"/>
            </a:lvl5pPr>
            <a:lvl6pPr lvl="5" algn="ctr">
              <a:spcBef>
                <a:spcPts val="0"/>
              </a:spcBef>
              <a:buSzPct val="100000"/>
              <a:defRPr sz="5600"/>
            </a:lvl6pPr>
            <a:lvl7pPr lvl="6" algn="ctr">
              <a:spcBef>
                <a:spcPts val="0"/>
              </a:spcBef>
              <a:buSzPct val="100000"/>
              <a:defRPr sz="5600"/>
            </a:lvl7pPr>
            <a:lvl8pPr lvl="7" algn="ctr">
              <a:spcBef>
                <a:spcPts val="0"/>
              </a:spcBef>
              <a:buSzPct val="100000"/>
              <a:defRPr sz="5600"/>
            </a:lvl8pPr>
            <a:lvl9pPr lvl="8" algn="ctr">
              <a:spcBef>
                <a:spcPts val="0"/>
              </a:spcBef>
              <a:buSzPct val="100000"/>
              <a:defRPr sz="56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40">
            <a:extLst>
              <a:ext uri="{FF2B5EF4-FFF2-40B4-BE49-F238E27FC236}">
                <a16:creationId xmlns:a16="http://schemas.microsoft.com/office/drawing/2014/main" id="{9D7E7267-EC8C-42C4-B17D-B28663A23F3F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42F8B18B-3B8E-4760-AC3B-6C1D9102A1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1332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300" cy="806700"/>
          </a:xfrm>
          <a:prstGeom prst="rect">
            <a:avLst/>
          </a:prstGeom>
        </p:spPr>
        <p:txBody>
          <a:bodyPr anchor="ctr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3" name="Shape 43">
            <a:extLst>
              <a:ext uri="{FF2B5EF4-FFF2-40B4-BE49-F238E27FC236}">
                <a16:creationId xmlns:a16="http://schemas.microsoft.com/office/drawing/2014/main" id="{D1FCA4C1-18E0-4A0A-9C27-0A024DFE41AD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59142F2B-96D6-442F-8EF7-1E05093DAE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233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16000"/>
            </a:lvl1pPr>
            <a:lvl2pPr lvl="1" algn="ctr">
              <a:spcBef>
                <a:spcPts val="0"/>
              </a:spcBef>
              <a:buSzPct val="100000"/>
              <a:defRPr sz="16000"/>
            </a:lvl2pPr>
            <a:lvl3pPr lvl="2" algn="ctr">
              <a:spcBef>
                <a:spcPts val="0"/>
              </a:spcBef>
              <a:buSzPct val="100000"/>
              <a:defRPr sz="16000"/>
            </a:lvl3pPr>
            <a:lvl4pPr lvl="3" algn="ctr">
              <a:spcBef>
                <a:spcPts val="0"/>
              </a:spcBef>
              <a:buSzPct val="100000"/>
              <a:defRPr sz="16000"/>
            </a:lvl4pPr>
            <a:lvl5pPr lvl="4" algn="ctr">
              <a:spcBef>
                <a:spcPts val="0"/>
              </a:spcBef>
              <a:buSzPct val="100000"/>
              <a:defRPr sz="16000"/>
            </a:lvl5pPr>
            <a:lvl6pPr lvl="5" algn="ctr">
              <a:spcBef>
                <a:spcPts val="0"/>
              </a:spcBef>
              <a:buSzPct val="100000"/>
              <a:defRPr sz="16000"/>
            </a:lvl6pPr>
            <a:lvl7pPr lvl="6" algn="ctr">
              <a:spcBef>
                <a:spcPts val="0"/>
              </a:spcBef>
              <a:buSzPct val="100000"/>
              <a:defRPr sz="16000"/>
            </a:lvl7pPr>
            <a:lvl8pPr lvl="7" algn="ctr">
              <a:spcBef>
                <a:spcPts val="0"/>
              </a:spcBef>
              <a:buSzPct val="100000"/>
              <a:defRPr sz="16000"/>
            </a:lvl8pPr>
            <a:lvl9pPr lvl="8" algn="ctr">
              <a:spcBef>
                <a:spcPts val="0"/>
              </a:spcBef>
              <a:buSzPct val="100000"/>
              <a:defRPr sz="16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300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FB643B6A-FE95-4548-A7D6-5170270BF9EF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F76A10BD-25BC-48DC-9B97-5FB8426F36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515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4">
            <a:extLst>
              <a:ext uri="{FF2B5EF4-FFF2-40B4-BE49-F238E27FC236}">
                <a16:creationId xmlns:a16="http://schemas.microsoft.com/office/drawing/2014/main" id="{0BD4C60F-BC06-4394-93DA-D5EFA0AAE321}"/>
              </a:ext>
            </a:extLst>
          </p:cNvPr>
          <p:cNvSpPr txBox="1">
            <a:spLocks noGrp="1" noChangeArrowheads="1"/>
          </p:cNvSpPr>
          <p:nvPr>
            <p:ph type="ftr" idx="10"/>
          </p:nvPr>
        </p:nvSpPr>
        <p:spPr bwMode="auto">
          <a:xfrm>
            <a:off x="274638" y="6343650"/>
            <a:ext cx="6327775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Rockwell" panose="02060603020205020403" pitchFamily="18" charset="77"/>
              </a:defRPr>
            </a:lvl1pPr>
          </a:lstStyle>
          <a:p>
            <a:pPr>
              <a:defRPr/>
            </a:pPr>
            <a:r>
              <a:rPr lang="en-US" altLang="en-US"/>
              <a:t>Pearson  (c) 2018      Gold Experience 2nd Edition C1 / B2+ / B2</a:t>
            </a:r>
          </a:p>
        </p:txBody>
      </p:sp>
    </p:spTree>
    <p:extLst>
      <p:ext uri="{BB962C8B-B14F-4D97-AF65-F5344CB8AC3E}">
        <p14:creationId xmlns:p14="http://schemas.microsoft.com/office/powerpoint/2010/main" val="1830539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="ctr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89EC8EC1-63D7-40EB-977E-E639D79931AE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BF4255EC-0C92-41E9-BE6B-76684D2BC6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73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6">
            <a:extLst>
              <a:ext uri="{FF2B5EF4-FFF2-40B4-BE49-F238E27FC236}">
                <a16:creationId xmlns:a16="http://schemas.microsoft.com/office/drawing/2014/main" id="{CDD76272-5493-4372-B8BA-B8073C3F862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15925" y="593725"/>
            <a:ext cx="1136015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Shape 7">
            <a:extLst>
              <a:ext uri="{FF2B5EF4-FFF2-40B4-BE49-F238E27FC236}">
                <a16:creationId xmlns:a16="http://schemas.microsoft.com/office/drawing/2014/main" id="{2F1C5A9B-22AB-4F63-AD95-CED6205D6B9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15925" y="1536700"/>
            <a:ext cx="11360150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Shape 8">
            <a:extLst>
              <a:ext uri="{FF2B5EF4-FFF2-40B4-BE49-F238E27FC236}">
                <a16:creationId xmlns:a16="http://schemas.microsoft.com/office/drawing/2014/main" id="{E559F4E2-FE15-4550-A9ED-1A194389C5DE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11296650" y="6218238"/>
            <a:ext cx="731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solidFill>
                  <a:srgbClr val="595959"/>
                </a:solidFill>
              </a:defRPr>
            </a:lvl1pPr>
          </a:lstStyle>
          <a:p>
            <a:fld id="{E5EB6218-8F98-4E55-8731-5418CEC979F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A6E7CEF0-5FC8-5048-B4BC-1058EAE9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58"/>
          <p:cNvSpPr txBox="1">
            <a:spLocks/>
          </p:cNvSpPr>
          <p:nvPr/>
        </p:nvSpPr>
        <p:spPr>
          <a:xfrm>
            <a:off x="2438400" y="4317467"/>
            <a:ext cx="10393680" cy="91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000" b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Simple, </a:t>
            </a:r>
            <a:r>
              <a:rPr lang="pl-PL" sz="6000" b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6000" b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6000" b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state</a:t>
            </a:r>
            <a:br>
              <a:rPr lang="pl-PL" sz="60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</a:br>
            <a:r>
              <a:rPr lang="pl-PL" sz="6000" b="1" dirty="0" err="1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verbs</a:t>
            </a:r>
            <a:endParaRPr lang="pl-PL" sz="6000" b="1" dirty="0">
              <a:solidFill>
                <a:schemeClr val="bg1"/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8" name="Shape 58"/>
          <p:cNvSpPr txBox="1">
            <a:spLocks/>
          </p:cNvSpPr>
          <p:nvPr/>
        </p:nvSpPr>
        <p:spPr>
          <a:xfrm>
            <a:off x="1127014" y="4317467"/>
            <a:ext cx="2203725" cy="1242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0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1.2 </a:t>
            </a:r>
          </a:p>
        </p:txBody>
      </p:sp>
    </p:spTree>
    <p:extLst>
      <p:ext uri="{BB962C8B-B14F-4D97-AF65-F5344CB8AC3E}">
        <p14:creationId xmlns:p14="http://schemas.microsoft.com/office/powerpoint/2010/main" val="233353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BFCB">
            <a:alpha val="2941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1">
            <a:extLst>
              <a:ext uri="{FF2B5EF4-FFF2-40B4-BE49-F238E27FC236}">
                <a16:creationId xmlns:a16="http://schemas.microsoft.com/office/drawing/2014/main" id="{16511B4D-8E83-4566-B777-498E347631D4}"/>
              </a:ext>
            </a:extLst>
          </p:cNvPr>
          <p:cNvSpPr txBox="1">
            <a:spLocks/>
          </p:cNvSpPr>
          <p:nvPr/>
        </p:nvSpPr>
        <p:spPr>
          <a:xfrm>
            <a:off x="211138" y="233363"/>
            <a:ext cx="11636375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When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do we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use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present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tenses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?</a:t>
            </a:r>
          </a:p>
        </p:txBody>
      </p:sp>
      <p:sp>
        <p:nvSpPr>
          <p:cNvPr id="16" name="Rounded Rectangular Callout 41">
            <a:extLst>
              <a:ext uri="{FF2B5EF4-FFF2-40B4-BE49-F238E27FC236}">
                <a16:creationId xmlns:a16="http://schemas.microsoft.com/office/drawing/2014/main" id="{B3804E64-C56D-403F-A66C-A20839343ABE}"/>
              </a:ext>
            </a:extLst>
          </p:cNvPr>
          <p:cNvSpPr/>
          <p:nvPr/>
        </p:nvSpPr>
        <p:spPr>
          <a:xfrm>
            <a:off x="3233738" y="3021013"/>
            <a:ext cx="7181850" cy="873125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live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in Poland, but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’m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living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with a family in Oxford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summer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0" name="Rounded Rectangular Callout 41">
            <a:extLst>
              <a:ext uri="{FF2B5EF4-FFF2-40B4-BE49-F238E27FC236}">
                <a16:creationId xmlns:a16="http://schemas.microsoft.com/office/drawing/2014/main" id="{2C485E96-89C7-4353-BE27-2594329988ED}"/>
              </a:ext>
            </a:extLst>
          </p:cNvPr>
          <p:cNvSpPr/>
          <p:nvPr/>
        </p:nvSpPr>
        <p:spPr>
          <a:xfrm>
            <a:off x="3233738" y="4045744"/>
            <a:ext cx="7181850" cy="873125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usually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sleeps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from 11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p.m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to 7 a.m.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sleeping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3 in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afternoon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6" name="Rounded Rectangular Callout 41">
            <a:extLst>
              <a:ext uri="{FF2B5EF4-FFF2-40B4-BE49-F238E27FC236}">
                <a16:creationId xmlns:a16="http://schemas.microsoft.com/office/drawing/2014/main" id="{02644043-2C0D-4537-9DE2-9236737D8BAA}"/>
              </a:ext>
            </a:extLst>
          </p:cNvPr>
          <p:cNvSpPr/>
          <p:nvPr/>
        </p:nvSpPr>
        <p:spPr>
          <a:xfrm>
            <a:off x="3233738" y="5070475"/>
            <a:ext cx="7181850" cy="906463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Jade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having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great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time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Australia.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has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ticket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for 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flight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home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next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month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5" name="Rounded Rectangular Callout 41">
            <a:extLst>
              <a:ext uri="{FF2B5EF4-FFF2-40B4-BE49-F238E27FC236}">
                <a16:creationId xmlns:a16="http://schemas.microsoft.com/office/drawing/2014/main" id="{1D1249F6-72E2-4B59-9282-047D3782F0B8}"/>
              </a:ext>
            </a:extLst>
          </p:cNvPr>
          <p:cNvSpPr/>
          <p:nvPr/>
        </p:nvSpPr>
        <p:spPr>
          <a:xfrm>
            <a:off x="2106613" y="1579563"/>
            <a:ext cx="9594850" cy="1249362"/>
          </a:xfrm>
          <a:prstGeom prst="wedgeRoundRectCallout">
            <a:avLst>
              <a:gd name="adj1" fmla="val -54576"/>
              <a:gd name="adj2" fmla="val -28886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 use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Simple 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routines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permanent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situations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and with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state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verbs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We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use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actions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temporary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situations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3319" name="Footer Placeholder 1">
            <a:extLst>
              <a:ext uri="{FF2B5EF4-FFF2-40B4-BE49-F238E27FC236}">
                <a16:creationId xmlns:a16="http://schemas.microsoft.com/office/drawing/2014/main" id="{5EC51306-0E21-488D-BF76-ADDAD2F274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pic>
        <p:nvPicPr>
          <p:cNvPr id="13320" name="Obraz 10">
            <a:extLst>
              <a:ext uri="{FF2B5EF4-FFF2-40B4-BE49-F238E27FC236}">
                <a16:creationId xmlns:a16="http://schemas.microsoft.com/office/drawing/2014/main" id="{B06E6338-0F8C-498A-9EC8-9995AAD82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457325"/>
            <a:ext cx="124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ular Callout 41">
            <a:extLst>
              <a:ext uri="{FF2B5EF4-FFF2-40B4-BE49-F238E27FC236}">
                <a16:creationId xmlns:a16="http://schemas.microsoft.com/office/drawing/2014/main" id="{3619E35D-82E1-485D-A6C6-2EB70E8C0E12}"/>
              </a:ext>
            </a:extLst>
          </p:cNvPr>
          <p:cNvSpPr/>
          <p:nvPr/>
        </p:nvSpPr>
        <p:spPr>
          <a:xfrm>
            <a:off x="2203450" y="4795838"/>
            <a:ext cx="7727950" cy="1209675"/>
          </a:xfrm>
          <a:prstGeom prst="wedgeRoundRectCallout">
            <a:avLst>
              <a:gd name="adj1" fmla="val -56550"/>
              <a:gd name="adj2" fmla="val -18697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verbs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both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tenses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endParaRPr lang="pl-PL" sz="2400" i="1" kern="0" dirty="0" err="1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pic>
        <p:nvPicPr>
          <p:cNvPr id="15363" name="Obraz 26">
            <a:extLst>
              <a:ext uri="{FF2B5EF4-FFF2-40B4-BE49-F238E27FC236}">
                <a16:creationId xmlns:a16="http://schemas.microsoft.com/office/drawing/2014/main" id="{A3A777BB-250D-4E1D-926A-C4743F8FB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725" y="2252663"/>
            <a:ext cx="12382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A0E3C3DF-7F39-4D71-8CAB-604A160DCF61}"/>
              </a:ext>
            </a:extLst>
          </p:cNvPr>
          <p:cNvSpPr/>
          <p:nvPr/>
        </p:nvSpPr>
        <p:spPr>
          <a:xfrm>
            <a:off x="2260600" y="350838"/>
            <a:ext cx="7727950" cy="1209675"/>
          </a:xfrm>
          <a:prstGeom prst="wedgeRoundRectCallout">
            <a:avLst>
              <a:gd name="adj1" fmla="val -57150"/>
              <a:gd name="adj2" fmla="val -25791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buSzPct val="25000"/>
              <a:defRPr/>
            </a:pP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Which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verbs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this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text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both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the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Simple and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their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meaning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the same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or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different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different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tenses</a:t>
            </a:r>
            <a:r>
              <a:rPr lang="pl-PL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9314B252-1E19-41F3-8011-219EE38EC9D9}"/>
              </a:ext>
            </a:extLst>
          </p:cNvPr>
          <p:cNvSpPr/>
          <p:nvPr/>
        </p:nvSpPr>
        <p:spPr>
          <a:xfrm>
            <a:off x="2178050" y="1812925"/>
            <a:ext cx="7727950" cy="2620963"/>
          </a:xfrm>
          <a:prstGeom prst="wedgeRoundRectCallout">
            <a:avLst>
              <a:gd name="adj1" fmla="val 59146"/>
              <a:gd name="adj2" fmla="val -17052"/>
              <a:gd name="adj3" fmla="val 16667"/>
            </a:avLst>
          </a:prstGeom>
          <a:solidFill>
            <a:srgbClr val="FAF8F0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feeling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tired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today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and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headache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it’s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because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it’s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hot.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thinking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going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swimming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pool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cool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off, but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feel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hot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make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any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decisions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rest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decide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pool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later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</a:t>
            </a:r>
            <a:r>
              <a:rPr lang="pl-PL" sz="2400" kern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endParaRPr lang="pl-PL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AF54256F-7D0E-4C72-A9A2-41AED31579F0}"/>
              </a:ext>
            </a:extLst>
          </p:cNvPr>
          <p:cNvCxnSpPr>
            <a:cxnSpLocks/>
          </p:cNvCxnSpPr>
          <p:nvPr/>
        </p:nvCxnSpPr>
        <p:spPr>
          <a:xfrm flipH="1">
            <a:off x="2486819" y="2559050"/>
            <a:ext cx="130175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7" name="Obraz 18">
            <a:extLst>
              <a:ext uri="{FF2B5EF4-FFF2-40B4-BE49-F238E27FC236}">
                <a16:creationId xmlns:a16="http://schemas.microsoft.com/office/drawing/2014/main" id="{09A922AC-88A0-4BE7-9260-48A19A7CB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50813"/>
            <a:ext cx="124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Obraz 19">
            <a:extLst>
              <a:ext uri="{FF2B5EF4-FFF2-40B4-BE49-F238E27FC236}">
                <a16:creationId xmlns:a16="http://schemas.microsoft.com/office/drawing/2014/main" id="{52ADFCC4-4060-4658-9A94-56FDBB095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4791075"/>
            <a:ext cx="124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9" name="Footer Placeholder 1">
            <a:extLst>
              <a:ext uri="{FF2B5EF4-FFF2-40B4-BE49-F238E27FC236}">
                <a16:creationId xmlns:a16="http://schemas.microsoft.com/office/drawing/2014/main" id="{13F6424A-44AA-4103-8600-FF121C3F667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cxnSp>
        <p:nvCxnSpPr>
          <p:cNvPr id="11" name="Łącznik prosty 15">
            <a:extLst>
              <a:ext uri="{FF2B5EF4-FFF2-40B4-BE49-F238E27FC236}">
                <a16:creationId xmlns:a16="http://schemas.microsoft.com/office/drawing/2014/main" id="{42C4D249-3D14-49DE-B6A8-1996C61B7A5E}"/>
              </a:ext>
            </a:extLst>
          </p:cNvPr>
          <p:cNvCxnSpPr>
            <a:cxnSpLocks/>
          </p:cNvCxnSpPr>
          <p:nvPr/>
        </p:nvCxnSpPr>
        <p:spPr>
          <a:xfrm flipH="1">
            <a:off x="7329488" y="3286921"/>
            <a:ext cx="48339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BED2A77-129B-4558-8D43-46635FBE1A12}"/>
              </a:ext>
            </a:extLst>
          </p:cNvPr>
          <p:cNvSpPr txBox="1"/>
          <p:nvPr/>
        </p:nvSpPr>
        <p:spPr>
          <a:xfrm>
            <a:off x="6554391" y="4986338"/>
            <a:ext cx="1573213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    , </a:t>
            </a: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have</a:t>
            </a:r>
            <a:endParaRPr lang="en-US" sz="24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6CF48E-D6A5-4B98-9975-1CF95502ACD5}"/>
              </a:ext>
            </a:extLst>
          </p:cNvPr>
          <p:cNvSpPr txBox="1"/>
          <p:nvPr/>
        </p:nvSpPr>
        <p:spPr>
          <a:xfrm>
            <a:off x="7747002" y="4986338"/>
            <a:ext cx="2751137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think</a:t>
            </a:r>
            <a:endParaRPr lang="en-US" sz="24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658B72-F598-4C5B-9BC5-5C61E9292A0C}"/>
              </a:ext>
            </a:extLst>
          </p:cNvPr>
          <p:cNvSpPr txBox="1"/>
          <p:nvPr/>
        </p:nvSpPr>
        <p:spPr>
          <a:xfrm>
            <a:off x="6490494" y="4986338"/>
            <a:ext cx="68103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feel</a:t>
            </a:r>
            <a:endParaRPr lang="en-US" sz="2400" i="1" dirty="0"/>
          </a:p>
        </p:txBody>
      </p:sp>
      <p:cxnSp>
        <p:nvCxnSpPr>
          <p:cNvPr id="18" name="Łącznik prosty 15">
            <a:extLst>
              <a:ext uri="{FF2B5EF4-FFF2-40B4-BE49-F238E27FC236}">
                <a16:creationId xmlns:a16="http://schemas.microsoft.com/office/drawing/2014/main" id="{7CD0B770-228B-4CB5-8936-E3A646751A30}"/>
              </a:ext>
            </a:extLst>
          </p:cNvPr>
          <p:cNvCxnSpPr>
            <a:cxnSpLocks/>
          </p:cNvCxnSpPr>
          <p:nvPr/>
        </p:nvCxnSpPr>
        <p:spPr>
          <a:xfrm flipH="1">
            <a:off x="6670675" y="2559050"/>
            <a:ext cx="6223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5">
            <a:extLst>
              <a:ext uri="{FF2B5EF4-FFF2-40B4-BE49-F238E27FC236}">
                <a16:creationId xmlns:a16="http://schemas.microsoft.com/office/drawing/2014/main" id="{452C907A-D5C5-4EBF-925E-040A50940BF6}"/>
              </a:ext>
            </a:extLst>
          </p:cNvPr>
          <p:cNvCxnSpPr>
            <a:cxnSpLocks/>
          </p:cNvCxnSpPr>
          <p:nvPr/>
        </p:nvCxnSpPr>
        <p:spPr>
          <a:xfrm flipH="1">
            <a:off x="5258992" y="3656489"/>
            <a:ext cx="130730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5">
            <a:extLst>
              <a:ext uri="{FF2B5EF4-FFF2-40B4-BE49-F238E27FC236}">
                <a16:creationId xmlns:a16="http://schemas.microsoft.com/office/drawing/2014/main" id="{05A486D3-B87E-4282-94E0-EBDFC7F9B61B}"/>
              </a:ext>
            </a:extLst>
          </p:cNvPr>
          <p:cNvCxnSpPr>
            <a:cxnSpLocks/>
          </p:cNvCxnSpPr>
          <p:nvPr/>
        </p:nvCxnSpPr>
        <p:spPr>
          <a:xfrm flipH="1">
            <a:off x="6513114" y="2929731"/>
            <a:ext cx="1487489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15">
            <a:extLst>
              <a:ext uri="{FF2B5EF4-FFF2-40B4-BE49-F238E27FC236}">
                <a16:creationId xmlns:a16="http://schemas.microsoft.com/office/drawing/2014/main" id="{5135448A-A6EA-40A9-A374-FB79714C8ADB}"/>
              </a:ext>
            </a:extLst>
          </p:cNvPr>
          <p:cNvCxnSpPr>
            <a:cxnSpLocks/>
          </p:cNvCxnSpPr>
          <p:nvPr/>
        </p:nvCxnSpPr>
        <p:spPr>
          <a:xfrm flipH="1">
            <a:off x="2565401" y="2929731"/>
            <a:ext cx="680243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9FEA45B-1E2B-4DE2-B073-31788CBEE100}"/>
              </a:ext>
            </a:extLst>
          </p:cNvPr>
          <p:cNvSpPr txBox="1"/>
          <p:nvPr/>
        </p:nvSpPr>
        <p:spPr>
          <a:xfrm>
            <a:off x="2265363" y="5400675"/>
            <a:ext cx="2487612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Same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meaning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:</a:t>
            </a:r>
            <a:endParaRPr lang="en-US" sz="24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44E85B-480A-4914-BBBE-CA3EE925B149}"/>
              </a:ext>
            </a:extLst>
          </p:cNvPr>
          <p:cNvSpPr txBox="1"/>
          <p:nvPr/>
        </p:nvSpPr>
        <p:spPr>
          <a:xfrm>
            <a:off x="5414963" y="5400675"/>
            <a:ext cx="29432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Different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meaning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:</a:t>
            </a:r>
            <a:endParaRPr lang="en-US" sz="2400" i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B1A9C5-6BE1-49CB-816F-341DBEA99AD2}"/>
              </a:ext>
            </a:extLst>
          </p:cNvPr>
          <p:cNvSpPr txBox="1"/>
          <p:nvPr/>
        </p:nvSpPr>
        <p:spPr>
          <a:xfrm>
            <a:off x="4421188" y="5399881"/>
            <a:ext cx="80486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feel</a:t>
            </a:r>
            <a:endParaRPr lang="en-US" sz="2400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86BAE4-04E9-4133-AFEC-15469BDA05C6}"/>
              </a:ext>
            </a:extLst>
          </p:cNvPr>
          <p:cNvSpPr txBox="1"/>
          <p:nvPr/>
        </p:nvSpPr>
        <p:spPr>
          <a:xfrm>
            <a:off x="8000603" y="5399881"/>
            <a:ext cx="9683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have</a:t>
            </a:r>
            <a:endParaRPr lang="en-US" sz="2400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8CF6CC-004E-4F0F-8761-1E1CB68AB18A}"/>
              </a:ext>
            </a:extLst>
          </p:cNvPr>
          <p:cNvSpPr txBox="1"/>
          <p:nvPr/>
        </p:nvSpPr>
        <p:spPr>
          <a:xfrm>
            <a:off x="8636993" y="5399881"/>
            <a:ext cx="1179512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2400" i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i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think</a:t>
            </a:r>
            <a:endParaRPr lang="en-US" sz="2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/>
      <p:bldP spid="14" grpId="0"/>
      <p:bldP spid="15" grpId="0"/>
      <p:bldP spid="23" grpId="0"/>
      <p:bldP spid="25" grpId="0"/>
      <p:bldP spid="26" grpId="0"/>
      <p:bldP spid="27" grpId="0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81">
            <a:extLst>
              <a:ext uri="{FF2B5EF4-FFF2-40B4-BE49-F238E27FC236}">
                <a16:creationId xmlns:a16="http://schemas.microsoft.com/office/drawing/2014/main" id="{3EA513E4-8918-4A23-AA41-A14A903E684B}"/>
              </a:ext>
            </a:extLst>
          </p:cNvPr>
          <p:cNvSpPr txBox="1">
            <a:spLocks/>
          </p:cNvSpPr>
          <p:nvPr/>
        </p:nvSpPr>
        <p:spPr>
          <a:xfrm>
            <a:off x="209550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the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Present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Simple and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Present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Continuous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17411" name="Footer Placeholder 1">
            <a:extLst>
              <a:ext uri="{FF2B5EF4-FFF2-40B4-BE49-F238E27FC236}">
                <a16:creationId xmlns:a16="http://schemas.microsoft.com/office/drawing/2014/main" id="{6FAE2159-5A26-4507-AEAD-E4204DFBB4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sp>
        <p:nvSpPr>
          <p:cNvPr id="52" name="Cloud 51">
            <a:extLst>
              <a:ext uri="{FF2B5EF4-FFF2-40B4-BE49-F238E27FC236}">
                <a16:creationId xmlns:a16="http://schemas.microsoft.com/office/drawing/2014/main" id="{1BABDF69-2DBC-430E-AA03-C151375E8D3F}"/>
              </a:ext>
            </a:extLst>
          </p:cNvPr>
          <p:cNvSpPr/>
          <p:nvPr/>
        </p:nvSpPr>
        <p:spPr>
          <a:xfrm>
            <a:off x="2232025" y="3857624"/>
            <a:ext cx="3694112" cy="152082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A0D49AD-438D-4DA4-AD85-4F0A79DC9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2" y="4171949"/>
            <a:ext cx="27305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use the Present Simple for routines</a:t>
            </a:r>
          </a:p>
          <a:p>
            <a:pPr>
              <a:defRPr/>
            </a:pP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Cloud 53">
            <a:extLst>
              <a:ext uri="{FF2B5EF4-FFF2-40B4-BE49-F238E27FC236}">
                <a16:creationId xmlns:a16="http://schemas.microsoft.com/office/drawing/2014/main" id="{EB628BD1-E17B-4FD5-A4A0-4051E638B4C8}"/>
              </a:ext>
            </a:extLst>
          </p:cNvPr>
          <p:cNvSpPr/>
          <p:nvPr/>
        </p:nvSpPr>
        <p:spPr>
          <a:xfrm>
            <a:off x="6065838" y="3876674"/>
            <a:ext cx="4103687" cy="1411288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Zaokrąglony prostokąt 2">
            <a:extLst>
              <a:ext uri="{FF2B5EF4-FFF2-40B4-BE49-F238E27FC236}">
                <a16:creationId xmlns:a16="http://schemas.microsoft.com/office/drawing/2014/main" id="{4A8FAEF1-84C8-4C24-9E5C-5266FCE54901}"/>
              </a:ext>
            </a:extLst>
          </p:cNvPr>
          <p:cNvSpPr/>
          <p:nvPr/>
        </p:nvSpPr>
        <p:spPr>
          <a:xfrm>
            <a:off x="2125663" y="2597147"/>
            <a:ext cx="7889875" cy="1074738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solidFill>
              <a:srgbClr val="E3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B3879396-4E8D-4359-8CB8-52E1A9D0E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304796"/>
              </p:ext>
            </p:extLst>
          </p:nvPr>
        </p:nvGraphicFramePr>
        <p:xfrm>
          <a:off x="2125663" y="1806575"/>
          <a:ext cx="7889875" cy="1356936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39439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45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lvl="3"/>
                      <a:r>
                        <a:rPr lang="pl-PL" sz="1600" dirty="0" err="1">
                          <a:latin typeface="Open Sans" charset="0"/>
                          <a:ea typeface="Open Sans" charset="0"/>
                          <a:cs typeface="Open Sans" charset="0"/>
                        </a:rPr>
                        <a:t>Present</a:t>
                      </a:r>
                      <a:r>
                        <a:rPr lang="pl-PL" sz="1600" dirty="0">
                          <a:latin typeface="Open Sans" charset="0"/>
                          <a:ea typeface="Open Sans" charset="0"/>
                          <a:cs typeface="Open Sans" charset="0"/>
                        </a:rPr>
                        <a:t> Simple</a:t>
                      </a:r>
                      <a:endParaRPr lang="en-GB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7" marR="91427" marT="45702" marB="45702" anchor="ctr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i="0" dirty="0" err="1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Present</a:t>
                      </a:r>
                      <a:r>
                        <a:rPr lang="pl-PL" sz="1600" i="0" dirty="0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 </a:t>
                      </a:r>
                      <a:r>
                        <a:rPr lang="pl-PL" sz="1600" i="0" dirty="0" err="1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Continuous</a:t>
                      </a:r>
                      <a:endParaRPr lang="en-GB" sz="1600" i="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7" marR="91427" marT="45702" marB="45702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7" marR="91427" marT="45702" marB="45702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7" marR="91427" marT="45702" marB="4570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411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27" marR="91427" marT="45702" marB="45702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27" marR="91427" marT="45702" marB="45702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8" name="Rectangle 57">
            <a:extLst>
              <a:ext uri="{FF2B5EF4-FFF2-40B4-BE49-F238E27FC236}">
                <a16:creationId xmlns:a16="http://schemas.microsoft.com/office/drawing/2014/main" id="{9A49F34A-2A23-481F-BEFC-81625DDEC8C3}"/>
              </a:ext>
            </a:extLst>
          </p:cNvPr>
          <p:cNvSpPr/>
          <p:nvPr/>
        </p:nvSpPr>
        <p:spPr>
          <a:xfrm>
            <a:off x="6065838" y="2210593"/>
            <a:ext cx="3878263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’s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talking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his friends now.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9" name="Rectangle 4">
            <a:extLst>
              <a:ext uri="{FF2B5EF4-FFF2-40B4-BE49-F238E27FC236}">
                <a16:creationId xmlns:a16="http://schemas.microsoft.com/office/drawing/2014/main" id="{8A0C965C-39D1-4FAC-BBA9-CD000F594702}"/>
              </a:ext>
            </a:extLst>
          </p:cNvPr>
          <p:cNvSpPr/>
          <p:nvPr/>
        </p:nvSpPr>
        <p:spPr>
          <a:xfrm>
            <a:off x="6065838" y="2589210"/>
            <a:ext cx="3879850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I’m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from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Brazil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, but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I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’m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studying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in the UK.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64" name="Rectangle 4">
            <a:extLst>
              <a:ext uri="{FF2B5EF4-FFF2-40B4-BE49-F238E27FC236}">
                <a16:creationId xmlns:a16="http://schemas.microsoft.com/office/drawing/2014/main" id="{D9C172B3-68AE-4654-99D6-BBC3E260D377}"/>
              </a:ext>
            </a:extLst>
          </p:cNvPr>
          <p:cNvSpPr/>
          <p:nvPr/>
        </p:nvSpPr>
        <p:spPr>
          <a:xfrm>
            <a:off x="2128044" y="2210593"/>
            <a:ext cx="3879850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She often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takes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bus to school.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9C1367A-835C-4019-9FCF-096C72875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5111" y="4415263"/>
            <a:ext cx="25828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                 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and permanent situations.</a:t>
            </a:r>
          </a:p>
          <a:p>
            <a:pPr>
              <a:defRPr/>
            </a:pP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Rectangle 4">
            <a:extLst>
              <a:ext uri="{FF2B5EF4-FFF2-40B4-BE49-F238E27FC236}">
                <a16:creationId xmlns:a16="http://schemas.microsoft.com/office/drawing/2014/main" id="{C8247918-C137-471D-816F-D20B9C49994A}"/>
              </a:ext>
            </a:extLst>
          </p:cNvPr>
          <p:cNvSpPr/>
          <p:nvPr/>
        </p:nvSpPr>
        <p:spPr>
          <a:xfrm>
            <a:off x="2128044" y="2589210"/>
            <a:ext cx="3879850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They 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live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 Madrid.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E9EB18-77CD-43D7-AD05-BE438156A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4172743"/>
            <a:ext cx="340836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use the Present Continuous for present actions</a:t>
            </a:r>
          </a:p>
          <a:p>
            <a:pPr>
              <a:defRPr/>
            </a:pP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10B8037-9AF5-4636-BC68-CB39FCF91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7175" y="4415263"/>
            <a:ext cx="330676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                       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and temporary situations.</a:t>
            </a:r>
          </a:p>
          <a:p>
            <a:pPr>
              <a:defRPr/>
            </a:pP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8" grpId="0"/>
      <p:bldP spid="59" grpId="0"/>
      <p:bldP spid="64" grpId="0"/>
      <p:bldP spid="65" grpId="0"/>
      <p:bldP spid="66" grpId="0"/>
      <p:bldP spid="67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Zaokrąglony prostokąt 2">
            <a:extLst>
              <a:ext uri="{FF2B5EF4-FFF2-40B4-BE49-F238E27FC236}">
                <a16:creationId xmlns:a16="http://schemas.microsoft.com/office/drawing/2014/main" id="{F1BC3E78-322C-4BDE-9C4E-1770FCC43BB1}"/>
              </a:ext>
            </a:extLst>
          </p:cNvPr>
          <p:cNvSpPr/>
          <p:nvPr/>
        </p:nvSpPr>
        <p:spPr>
          <a:xfrm>
            <a:off x="1376363" y="4988720"/>
            <a:ext cx="9478962" cy="1074738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solidFill>
              <a:srgbClr val="E3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39048E2-00A2-4623-8A28-0103C92F0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91588"/>
              </p:ext>
            </p:extLst>
          </p:nvPr>
        </p:nvGraphicFramePr>
        <p:xfrm>
          <a:off x="1376363" y="3532188"/>
          <a:ext cx="9478962" cy="2011440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4738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40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27">
                <a:tc>
                  <a:txBody>
                    <a:bodyPr/>
                    <a:lstStyle/>
                    <a:p>
                      <a:pPr lvl="3"/>
                      <a:r>
                        <a:rPr lang="pl-PL" sz="1600" dirty="0" err="1">
                          <a:latin typeface="Open Sans" charset="0"/>
                          <a:ea typeface="Open Sans" charset="0"/>
                          <a:cs typeface="Open Sans" charset="0"/>
                        </a:rPr>
                        <a:t>State</a:t>
                      </a:r>
                      <a:r>
                        <a:rPr lang="pl-PL" sz="1600" dirty="0">
                          <a:latin typeface="Open Sans" charset="0"/>
                          <a:ea typeface="Open Sans" charset="0"/>
                          <a:cs typeface="Open Sans" charset="0"/>
                        </a:rPr>
                        <a:t> </a:t>
                      </a:r>
                      <a:r>
                        <a:rPr lang="pl-PL" sz="1600" dirty="0" err="1">
                          <a:latin typeface="Open Sans" charset="0"/>
                          <a:ea typeface="Open Sans" charset="0"/>
                          <a:cs typeface="Open Sans" charset="0"/>
                        </a:rPr>
                        <a:t>verbs</a:t>
                      </a:r>
                      <a:endParaRPr lang="en-GB" sz="16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8" marR="91438" marT="45700" marB="45700" anchor="ctr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l-PL" sz="1600" i="0" dirty="0" err="1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Dynamic</a:t>
                      </a:r>
                      <a:r>
                        <a:rPr lang="pl-PL" sz="1600" i="0" dirty="0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 </a:t>
                      </a:r>
                      <a:r>
                        <a:rPr lang="pl-PL" sz="1600" i="0" dirty="0" err="1">
                          <a:solidFill>
                            <a:schemeClr val="bg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verbs</a:t>
                      </a:r>
                      <a:endParaRPr lang="en-GB" sz="1600" i="0" dirty="0">
                        <a:solidFill>
                          <a:schemeClr val="bg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8" marR="91438" marT="45700" marB="457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8" marR="91438" marT="45700" marB="45700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00" marB="4570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9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8" marR="91438" marT="45700" marB="45700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00" marB="4570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8" marR="91438" marT="45700" marB="45700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00" marB="4570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8" marR="91438" marT="45700" marB="45700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00" marB="4570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27">
                <a:tc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8" marR="91438" marT="45700" marB="45700"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8" marR="91438" marT="45700" marB="4570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481" name="Footer Placeholder 1">
            <a:extLst>
              <a:ext uri="{FF2B5EF4-FFF2-40B4-BE49-F238E27FC236}">
                <a16:creationId xmlns:a16="http://schemas.microsoft.com/office/drawing/2014/main" id="{C8CA2BE1-5780-41C5-BB7E-C7EEAEC2CD1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sp>
        <p:nvSpPr>
          <p:cNvPr id="14" name="Cloud 13">
            <a:extLst>
              <a:ext uri="{FF2B5EF4-FFF2-40B4-BE49-F238E27FC236}">
                <a16:creationId xmlns:a16="http://schemas.microsoft.com/office/drawing/2014/main" id="{E0708C91-C8B0-45B4-96DC-582ABB3F6D7F}"/>
              </a:ext>
            </a:extLst>
          </p:cNvPr>
          <p:cNvSpPr/>
          <p:nvPr/>
        </p:nvSpPr>
        <p:spPr>
          <a:xfrm>
            <a:off x="324639" y="1045369"/>
            <a:ext cx="3373438" cy="1189038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AAED7A-9A5A-40BF-A6C5-2AB27A141694}"/>
              </a:ext>
            </a:extLst>
          </p:cNvPr>
          <p:cNvSpPr txBox="1"/>
          <p:nvPr/>
        </p:nvSpPr>
        <p:spPr>
          <a:xfrm>
            <a:off x="744533" y="1313657"/>
            <a:ext cx="2533650" cy="585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State verbs don’t normally have a continuous form.</a:t>
            </a:r>
          </a:p>
        </p:txBody>
      </p:sp>
      <p:sp>
        <p:nvSpPr>
          <p:cNvPr id="16" name="Cloud 15">
            <a:extLst>
              <a:ext uri="{FF2B5EF4-FFF2-40B4-BE49-F238E27FC236}">
                <a16:creationId xmlns:a16="http://schemas.microsoft.com/office/drawing/2014/main" id="{03A71ADB-8802-4742-9628-3C3C9BC67FA8}"/>
              </a:ext>
            </a:extLst>
          </p:cNvPr>
          <p:cNvSpPr/>
          <p:nvPr/>
        </p:nvSpPr>
        <p:spPr>
          <a:xfrm>
            <a:off x="5894782" y="968375"/>
            <a:ext cx="3417887" cy="1282700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734C93-EC07-4BBC-9C3D-33D6CF1E90EC}"/>
              </a:ext>
            </a:extLst>
          </p:cNvPr>
          <p:cNvSpPr txBox="1"/>
          <p:nvPr/>
        </p:nvSpPr>
        <p:spPr>
          <a:xfrm>
            <a:off x="6316856" y="1194594"/>
            <a:ext cx="2632076" cy="83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Some verbs can be state or dynamic, depending on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meaning.</a:t>
            </a:r>
          </a:p>
        </p:txBody>
      </p:sp>
      <p:sp>
        <p:nvSpPr>
          <p:cNvPr id="18" name="Cloud 17">
            <a:extLst>
              <a:ext uri="{FF2B5EF4-FFF2-40B4-BE49-F238E27FC236}">
                <a16:creationId xmlns:a16="http://schemas.microsoft.com/office/drawing/2014/main" id="{459BE359-9A8D-48A6-8E8F-80CC9B3C7633}"/>
              </a:ext>
            </a:extLst>
          </p:cNvPr>
          <p:cNvSpPr/>
          <p:nvPr/>
        </p:nvSpPr>
        <p:spPr>
          <a:xfrm>
            <a:off x="2745977" y="1693863"/>
            <a:ext cx="3536950" cy="1784350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F4955D-242B-4902-8593-B8D8920C5AA6}"/>
              </a:ext>
            </a:extLst>
          </p:cNvPr>
          <p:cNvSpPr txBox="1"/>
          <p:nvPr/>
        </p:nvSpPr>
        <p:spPr>
          <a:xfrm>
            <a:off x="3105545" y="1882141"/>
            <a:ext cx="2946400" cy="1323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Examples include: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like, love, prefer, wish, hate, want, need, believe, know,</a:t>
            </a:r>
            <a:r>
              <a:rPr lang="pl-P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remember, understand, be, cost, belong, mean, seem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Shape 81">
            <a:extLst>
              <a:ext uri="{FF2B5EF4-FFF2-40B4-BE49-F238E27FC236}">
                <a16:creationId xmlns:a16="http://schemas.microsoft.com/office/drawing/2014/main" id="{446F39DD-5AD0-4181-8CEB-2C36AABB9EE9}"/>
              </a:ext>
            </a:extLst>
          </p:cNvPr>
          <p:cNvSpPr txBox="1">
            <a:spLocks/>
          </p:cNvSpPr>
          <p:nvPr/>
        </p:nvSpPr>
        <p:spPr>
          <a:xfrm>
            <a:off x="2111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What</a:t>
            </a:r>
            <a:r>
              <a:rPr lang="pl-PL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l-PL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are</a:t>
            </a:r>
            <a:r>
              <a:rPr lang="pl-PL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l-PL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state</a:t>
            </a:r>
            <a:r>
              <a:rPr lang="pl-PL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l-PL" sz="4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verbs</a:t>
            </a:r>
            <a:r>
              <a:rPr lang="pl-PL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32" name="Rectangle 4">
            <a:extLst>
              <a:ext uri="{FF2B5EF4-FFF2-40B4-BE49-F238E27FC236}">
                <a16:creationId xmlns:a16="http://schemas.microsoft.com/office/drawing/2014/main" id="{32727FE1-CA4D-461E-BD0B-F5361550347E}"/>
              </a:ext>
            </a:extLst>
          </p:cNvPr>
          <p:cNvSpPr/>
          <p:nvPr/>
        </p:nvSpPr>
        <p:spPr>
          <a:xfrm>
            <a:off x="1371600" y="3874294"/>
            <a:ext cx="1946275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think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he’s right.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61CBAF9E-3796-480D-B347-314CDE84AC4A}"/>
              </a:ext>
            </a:extLst>
          </p:cNvPr>
          <p:cNvSpPr/>
          <p:nvPr/>
        </p:nvSpPr>
        <p:spPr>
          <a:xfrm>
            <a:off x="2951165" y="3874294"/>
            <a:ext cx="99456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(opinion)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7" name="Rectangle 4">
            <a:extLst>
              <a:ext uri="{FF2B5EF4-FFF2-40B4-BE49-F238E27FC236}">
                <a16:creationId xmlns:a16="http://schemas.microsoft.com/office/drawing/2014/main" id="{EB0EB5D0-B846-400F-B399-F79A81F6D5EE}"/>
              </a:ext>
            </a:extLst>
          </p:cNvPr>
          <p:cNvSpPr/>
          <p:nvPr/>
        </p:nvSpPr>
        <p:spPr>
          <a:xfrm>
            <a:off x="6120607" y="3874294"/>
            <a:ext cx="4051300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What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’s </a:t>
            </a: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he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thinking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about?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98AE6C12-5719-4937-A1FE-FDED9F394684}"/>
              </a:ext>
            </a:extLst>
          </p:cNvPr>
          <p:cNvSpPr/>
          <p:nvPr/>
        </p:nvSpPr>
        <p:spPr>
          <a:xfrm>
            <a:off x="8598695" y="3874294"/>
            <a:ext cx="1865312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(mental process)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497EF73F-3A55-4D3A-AF2A-9861ABA939C1}"/>
              </a:ext>
            </a:extLst>
          </p:cNvPr>
          <p:cNvSpPr/>
          <p:nvPr/>
        </p:nvSpPr>
        <p:spPr>
          <a:xfrm>
            <a:off x="1371600" y="4196554"/>
            <a:ext cx="2868613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see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her – she’s over there.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A962ABDF-62A0-4621-B04F-80A68AF328C5}"/>
              </a:ext>
            </a:extLst>
          </p:cNvPr>
          <p:cNvSpPr/>
          <p:nvPr/>
        </p:nvSpPr>
        <p:spPr>
          <a:xfrm>
            <a:off x="3844928" y="4196554"/>
            <a:ext cx="2071688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(see with eyes)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41C65103-22CF-452C-8680-79BA7904594F}"/>
              </a:ext>
            </a:extLst>
          </p:cNvPr>
          <p:cNvSpPr/>
          <p:nvPr/>
        </p:nvSpPr>
        <p:spPr>
          <a:xfrm>
            <a:off x="6120607" y="4196554"/>
            <a:ext cx="4051300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’m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seeing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Peter a lot these days.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795DFB49-C545-4E0E-8B00-D0382371A7C4}"/>
              </a:ext>
            </a:extLst>
          </p:cNvPr>
          <p:cNvSpPr/>
          <p:nvPr/>
        </p:nvSpPr>
        <p:spPr>
          <a:xfrm>
            <a:off x="9150347" y="4196554"/>
            <a:ext cx="1865312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(meet up with)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54FE8510-633D-4264-9A2D-6E242F1CEDAF}"/>
              </a:ext>
            </a:extLst>
          </p:cNvPr>
          <p:cNvSpPr/>
          <p:nvPr/>
        </p:nvSpPr>
        <p:spPr>
          <a:xfrm>
            <a:off x="1371600" y="4537869"/>
            <a:ext cx="1944688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have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dog.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AF611A21-9C07-484E-BB90-8277F899D22C}"/>
              </a:ext>
            </a:extLst>
          </p:cNvPr>
          <p:cNvSpPr/>
          <p:nvPr/>
        </p:nvSpPr>
        <p:spPr>
          <a:xfrm>
            <a:off x="2603498" y="4537869"/>
            <a:ext cx="1292227" cy="338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(possession)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628B61D5-312C-41BF-AA6D-EC26C8FEE9BF}"/>
              </a:ext>
            </a:extLst>
          </p:cNvPr>
          <p:cNvSpPr/>
          <p:nvPr/>
        </p:nvSpPr>
        <p:spPr>
          <a:xfrm>
            <a:off x="6120607" y="4537869"/>
            <a:ext cx="4049713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’m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having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lunch now.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6675DDC0-3A04-42E8-874E-625FCB3EB407}"/>
              </a:ext>
            </a:extLst>
          </p:cNvPr>
          <p:cNvSpPr/>
          <p:nvPr/>
        </p:nvSpPr>
        <p:spPr>
          <a:xfrm>
            <a:off x="8189913" y="4537869"/>
            <a:ext cx="2195512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(action)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7" name="Rectangle 4">
            <a:extLst>
              <a:ext uri="{FF2B5EF4-FFF2-40B4-BE49-F238E27FC236}">
                <a16:creationId xmlns:a16="http://schemas.microsoft.com/office/drawing/2014/main" id="{7F2857AF-D130-4AFF-A52E-4F3344B722AA}"/>
              </a:ext>
            </a:extLst>
          </p:cNvPr>
          <p:cNvSpPr/>
          <p:nvPr/>
        </p:nvSpPr>
        <p:spPr>
          <a:xfrm>
            <a:off x="1371600" y="4872037"/>
            <a:ext cx="3368675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soup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smells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/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tastes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lovely.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:a16="http://schemas.microsoft.com/office/drawing/2014/main" id="{92D9EF7C-BBCB-400B-839D-729EEAD5A7C4}"/>
              </a:ext>
            </a:extLst>
          </p:cNvPr>
          <p:cNvSpPr/>
          <p:nvPr/>
        </p:nvSpPr>
        <p:spPr>
          <a:xfrm>
            <a:off x="4162426" y="4872037"/>
            <a:ext cx="1068387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(quality)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49" name="Rectangle 4">
            <a:extLst>
              <a:ext uri="{FF2B5EF4-FFF2-40B4-BE49-F238E27FC236}">
                <a16:creationId xmlns:a16="http://schemas.microsoft.com/office/drawing/2014/main" id="{DEDC6676-9FBE-467D-82D0-118233AAD2D9}"/>
              </a:ext>
            </a:extLst>
          </p:cNvPr>
          <p:cNvSpPr/>
          <p:nvPr/>
        </p:nvSpPr>
        <p:spPr>
          <a:xfrm>
            <a:off x="6120607" y="4872037"/>
            <a:ext cx="4049713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’m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tasting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/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smelling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the soup.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4E82B97A-52FD-4F71-9443-4B8C5FE75E2C}"/>
              </a:ext>
            </a:extLst>
          </p:cNvPr>
          <p:cNvSpPr/>
          <p:nvPr/>
        </p:nvSpPr>
        <p:spPr>
          <a:xfrm>
            <a:off x="8955088" y="4872037"/>
            <a:ext cx="2024063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(action)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8AFFB296-D471-477A-A3C1-E06AB3E43664}"/>
              </a:ext>
            </a:extLst>
          </p:cNvPr>
          <p:cNvSpPr/>
          <p:nvPr/>
        </p:nvSpPr>
        <p:spPr>
          <a:xfrm>
            <a:off x="1371600" y="5207794"/>
            <a:ext cx="3368675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</a:t>
            </a:r>
            <a:r>
              <a:rPr lang="en-GB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feel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tired.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3" name="Rectangle 4">
            <a:extLst>
              <a:ext uri="{FF2B5EF4-FFF2-40B4-BE49-F238E27FC236}">
                <a16:creationId xmlns:a16="http://schemas.microsoft.com/office/drawing/2014/main" id="{DBA2D49D-4DA4-4F91-8097-DB693B32389F}"/>
              </a:ext>
            </a:extLst>
          </p:cNvPr>
          <p:cNvSpPr/>
          <p:nvPr/>
        </p:nvSpPr>
        <p:spPr>
          <a:xfrm>
            <a:off x="6120607" y="5207794"/>
            <a:ext cx="4049713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’m </a:t>
            </a:r>
            <a:r>
              <a:rPr lang="en-GB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feeling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tired. </a:t>
            </a:r>
            <a:endParaRPr lang="en-US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A34C5D96-7ABA-4DAF-B461-6F3BDEA08709}"/>
              </a:ext>
            </a:extLst>
          </p:cNvPr>
          <p:cNvSpPr/>
          <p:nvPr/>
        </p:nvSpPr>
        <p:spPr>
          <a:xfrm>
            <a:off x="8158961" y="1822450"/>
            <a:ext cx="3708400" cy="161131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A6885F-F382-4EB5-B539-E9A226139A51}"/>
              </a:ext>
            </a:extLst>
          </p:cNvPr>
          <p:cNvSpPr txBox="1"/>
          <p:nvPr/>
        </p:nvSpPr>
        <p:spPr>
          <a:xfrm>
            <a:off x="8444711" y="2089150"/>
            <a:ext cx="3260725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Some verbs work both in the simple and continuous</a:t>
            </a:r>
          </a:p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forms, but with no change in meaning.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9" grpId="0"/>
      <p:bldP spid="32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3" grpId="0"/>
      <p:bldP spid="5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5911E8-E054-4F3B-A05C-4A11A4562758}"/>
              </a:ext>
            </a:extLst>
          </p:cNvPr>
          <p:cNvSpPr txBox="1"/>
          <p:nvPr/>
        </p:nvSpPr>
        <p:spPr>
          <a:xfrm>
            <a:off x="271463" y="1962150"/>
            <a:ext cx="8472487" cy="42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 Sara,</a:t>
            </a:r>
          </a:p>
          <a:p>
            <a:pPr>
              <a:lnSpc>
                <a:spcPct val="200000"/>
              </a:lnSpc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are you? I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’m enjoying / enjoy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 new school. There are lots of after-school clubs and I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belong /’m belonging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the Drama Club now. We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’re meeting up / meet up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every Friday. At the moment the club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prepares / is preparing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a show and they </a:t>
            </a:r>
            <a:b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’re wanting / want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 to be in it. I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think / ’m thinking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about it and I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like / am liking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idea, but I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8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feel / ’m feeling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anxious about it. What </a:t>
            </a:r>
            <a:r>
              <a:rPr lang="en-GB" sz="1600" b="1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9</a:t>
            </a:r>
            <a:r>
              <a:rPr lang="en-GB" sz="16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 you think / are you thinking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 should do?</a:t>
            </a:r>
          </a:p>
          <a:p>
            <a:pPr>
              <a:lnSpc>
                <a:spcPct val="200000"/>
              </a:lnSpc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1507" name="Shape 82">
            <a:extLst>
              <a:ext uri="{FF2B5EF4-FFF2-40B4-BE49-F238E27FC236}">
                <a16:creationId xmlns:a16="http://schemas.microsoft.com/office/drawing/2014/main" id="{09074D4E-427D-4646-B437-15799C0A0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922338"/>
            <a:ext cx="7019925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Aft>
                <a:spcPts val="2100"/>
              </a:spcAft>
              <a:buClr>
                <a:srgbClr val="595959"/>
              </a:buClr>
            </a:pPr>
            <a:r>
              <a:rPr lang="en-GB" altLang="en-US" sz="2000" b="1" dirty="0">
                <a:solidFill>
                  <a:srgbClr val="404040"/>
                </a:solidFill>
                <a:latin typeface="Open Sans" pitchFamily="34" charset="0"/>
                <a:cs typeface="Open Sans" pitchFamily="34" charset="0"/>
              </a:rPr>
              <a:t>Choose the correct option. </a:t>
            </a:r>
            <a:r>
              <a:rPr lang="pl-PL" altLang="en-US" sz="2000" b="1" dirty="0" err="1">
                <a:solidFill>
                  <a:srgbClr val="404040"/>
                </a:solidFill>
                <a:latin typeface="Open Sans" pitchFamily="34" charset="0"/>
                <a:cs typeface="Open Sans" pitchFamily="34" charset="0"/>
              </a:rPr>
              <a:t>Choose</a:t>
            </a:r>
            <a:r>
              <a:rPr lang="en-GB" altLang="en-US" sz="2000" b="1" dirty="0">
                <a:solidFill>
                  <a:srgbClr val="404040"/>
                </a:solidFill>
                <a:latin typeface="Open Sans" pitchFamily="34" charset="0"/>
                <a:cs typeface="Open Sans" pitchFamily="34" charset="0"/>
              </a:rPr>
              <a:t> both options if both are possible.</a:t>
            </a:r>
          </a:p>
        </p:txBody>
      </p:sp>
      <p:sp>
        <p:nvSpPr>
          <p:cNvPr id="18" name="Shape 81">
            <a:extLst>
              <a:ext uri="{FF2B5EF4-FFF2-40B4-BE49-F238E27FC236}">
                <a16:creationId xmlns:a16="http://schemas.microsoft.com/office/drawing/2014/main" id="{E9F3C8C3-2A94-4FDC-ABAC-650CD2330AD0}"/>
              </a:ext>
            </a:extLst>
          </p:cNvPr>
          <p:cNvSpPr txBox="1">
            <a:spLocks/>
          </p:cNvSpPr>
          <p:nvPr/>
        </p:nvSpPr>
        <p:spPr>
          <a:xfrm>
            <a:off x="1666875" y="233363"/>
            <a:ext cx="10142538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Practice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Time</a:t>
            </a:r>
          </a:p>
        </p:txBody>
      </p:sp>
      <p:pic>
        <p:nvPicPr>
          <p:cNvPr id="21509" name="Obraz 19">
            <a:extLst>
              <a:ext uri="{FF2B5EF4-FFF2-40B4-BE49-F238E27FC236}">
                <a16:creationId xmlns:a16="http://schemas.microsoft.com/office/drawing/2014/main" id="{1C514B22-092E-4D7D-A160-E1C6FAA5C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323850"/>
            <a:ext cx="124618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0" name="Footer Placeholder 1">
            <a:extLst>
              <a:ext uri="{FF2B5EF4-FFF2-40B4-BE49-F238E27FC236}">
                <a16:creationId xmlns:a16="http://schemas.microsoft.com/office/drawing/2014/main" id="{DB9BD247-C83B-4AC3-A3B2-B3D55F410F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BA64AC6-8F23-4352-8BB7-A5C341CC56F5}"/>
              </a:ext>
            </a:extLst>
          </p:cNvPr>
          <p:cNvSpPr/>
          <p:nvPr/>
        </p:nvSpPr>
        <p:spPr>
          <a:xfrm>
            <a:off x="1815465" y="2581594"/>
            <a:ext cx="1183005" cy="42830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3A37CB7-ECB2-477B-8FA5-1CE5F7888B4D}"/>
              </a:ext>
            </a:extLst>
          </p:cNvPr>
          <p:cNvSpPr/>
          <p:nvPr/>
        </p:nvSpPr>
        <p:spPr>
          <a:xfrm>
            <a:off x="3112770" y="2581593"/>
            <a:ext cx="579120" cy="42830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FF8CF4-354F-4003-AB2C-5146AC48CB25}"/>
              </a:ext>
            </a:extLst>
          </p:cNvPr>
          <p:cNvSpPr/>
          <p:nvPr/>
        </p:nvSpPr>
        <p:spPr>
          <a:xfrm>
            <a:off x="549433" y="3115938"/>
            <a:ext cx="683895" cy="338462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FD1184-F0BC-4F92-9D93-88A88FD5C2B7}"/>
              </a:ext>
            </a:extLst>
          </p:cNvPr>
          <p:cNvSpPr/>
          <p:nvPr/>
        </p:nvSpPr>
        <p:spPr>
          <a:xfrm>
            <a:off x="6817519" y="3114675"/>
            <a:ext cx="817562" cy="339725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665F021-00F3-4F2F-9605-89CE8FE4A2C8}"/>
              </a:ext>
            </a:extLst>
          </p:cNvPr>
          <p:cNvSpPr/>
          <p:nvPr/>
        </p:nvSpPr>
        <p:spPr>
          <a:xfrm>
            <a:off x="4220209" y="3575050"/>
            <a:ext cx="1223965" cy="425450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EA1D62B-19C4-4212-ABE5-0728BEAC3A49}"/>
              </a:ext>
            </a:extLst>
          </p:cNvPr>
          <p:cNvSpPr/>
          <p:nvPr/>
        </p:nvSpPr>
        <p:spPr>
          <a:xfrm>
            <a:off x="1681162" y="4105274"/>
            <a:ext cx="588169" cy="339726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A227A92-83CD-4E34-A044-CB9B030BB9AE}"/>
              </a:ext>
            </a:extLst>
          </p:cNvPr>
          <p:cNvSpPr/>
          <p:nvPr/>
        </p:nvSpPr>
        <p:spPr>
          <a:xfrm>
            <a:off x="4380228" y="4105274"/>
            <a:ext cx="1223965" cy="339726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21A5FF-B03B-4246-9DCE-78BE3751CBA5}"/>
              </a:ext>
            </a:extLst>
          </p:cNvPr>
          <p:cNvSpPr/>
          <p:nvPr/>
        </p:nvSpPr>
        <p:spPr>
          <a:xfrm>
            <a:off x="6932613" y="4105274"/>
            <a:ext cx="394017" cy="339726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AD2A22-D808-43A5-B65E-0F9C3FE8D6BA}"/>
              </a:ext>
            </a:extLst>
          </p:cNvPr>
          <p:cNvSpPr/>
          <p:nvPr/>
        </p:nvSpPr>
        <p:spPr>
          <a:xfrm>
            <a:off x="1708785" y="4563427"/>
            <a:ext cx="420688" cy="373064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14A1E8A-0C19-485E-B44F-A283F57D19BE}"/>
              </a:ext>
            </a:extLst>
          </p:cNvPr>
          <p:cNvSpPr/>
          <p:nvPr/>
        </p:nvSpPr>
        <p:spPr>
          <a:xfrm>
            <a:off x="2249806" y="4563427"/>
            <a:ext cx="1035844" cy="373064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5172AB7-6CCD-46D4-8A45-3048D5CD1266}"/>
              </a:ext>
            </a:extLst>
          </p:cNvPr>
          <p:cNvSpPr/>
          <p:nvPr/>
        </p:nvSpPr>
        <p:spPr>
          <a:xfrm>
            <a:off x="5436554" y="4563427"/>
            <a:ext cx="1271588" cy="373064"/>
          </a:xfrm>
          <a:prstGeom prst="ellipse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7557</TotalTime>
  <Words>642</Words>
  <Application>Microsoft Office PowerPoint</Application>
  <PresentationFormat>Panoramiczny</PresentationFormat>
  <Paragraphs>67</Paragraphs>
  <Slides>6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1" baseType="lpstr">
      <vt:lpstr>Arial</vt:lpstr>
      <vt:lpstr>Open Sans</vt:lpstr>
      <vt:lpstr>Open Sans Light</vt:lpstr>
      <vt:lpstr>Rokkitt</vt:lpstr>
      <vt:lpstr>Simple Light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Emphatic structures</dc:title>
  <dc:creator>Louise Manicolo</dc:creator>
  <cp:lastModifiedBy>Kwiatkowski, Cezary</cp:lastModifiedBy>
  <cp:revision>409</cp:revision>
  <dcterms:modified xsi:type="dcterms:W3CDTF">2021-02-17T13:15:56Z</dcterms:modified>
</cp:coreProperties>
</file>